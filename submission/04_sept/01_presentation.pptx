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Calibri"/>
              </a:rPr>
              <a:t>FX Signal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55555"/>
                </a:solidFill>
                <a:latin typeface="Calibri"/>
              </a:rPr>
              <a:t>Система push-сигналов для трансграничных переводов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3429000"/>
            <a:ext cx="9784080" cy="0"/>
          </a:xfrm>
          <a:prstGeom prst="line">
            <a:avLst/>
          </a:prstGeom>
          <a:ln w="27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Alfa-Bank Hackathon · Сентябрь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Давид Гусейнов · София · Варя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Проблема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Клиент переводит деньги когда удобно ему, а не когда выгоден курс — разница может достигать 2–3% на горизонте недели.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51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В приложении нет сигнала о выгодности текущего момента: пользователь не имеет ориентира кроме собственной интуиции.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23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Трудовые мигранты совершают 1–2 перевода в месяц, и ошибка в выборе дня стоит реальных денег — при переводе 30 000 ₽ это 600–900 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Постановка задачи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Разработать систему, которая определяет выгодные моменты для трансграничных переводов и генерирует push-уведомление клиенту с описанием текущей ситуации на основе фактов прошлого.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74519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Целевое значение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Обоснование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Lift над случайным днём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≥ 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Порог экономической значимости сигнала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Частота сигналов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1–2 / коридор / неделю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Достаточно для покрытия клиентских паттернов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Горизонт оценки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 = 5 рабочих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Реалистичный лаг принятия решения клиентом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Покрытие коридоров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 (TJS, UZS, KGS, AMD, KZT)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Ключевые направления трудовых переводов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Ошибка асимметрии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FP &gt; FN (вес FP = 3×)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Ложный сигнал дороже пропущенного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Продуктовый фокус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Пользователь · Отличия · Сценарий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371600"/>
            <a:ext cx="3657600" cy="52120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51960" y="1371600"/>
            <a:ext cx="3657600" cy="52120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657600" cy="52120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Блок 1 — Кто и зачем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A1A1A"/>
                </a:solidFill>
                <a:latin typeface="Calibri"/>
              </a:rPr>
              <a:t>Трудовой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мигрант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·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зарплатный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цикл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·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один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коридор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/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один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получатель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
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Часовой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пояс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UTC+5 →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запрет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пуша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22:00–08:00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по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времени</a:t>
            </a:r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Calibri"/>
              </a:rPr>
              <a:t>получателя</a:t>
            </a:r>
            <a:endParaRPr sz="10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2743200"/>
            <a:ext cx="33832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C0000"/>
                </a:solidFill>
                <a:latin typeface="Calibri"/>
              </a:rPr>
              <a:t>JTBD</a:t>
            </a:r>
          </a:p>
          <a:p>
            <a:r>
              <a:rPr sz="1200" i="1">
                <a:solidFill>
                  <a:srgbClr val="1A1A1A"/>
                </a:solidFill>
                <a:latin typeface="Calibri"/>
              </a:rPr>
              <a:t>« Когда мне нужно отправить деньги семье, я хочу понимать — сегодня хороший день по курсу или лучше подождать, — чтобы до получателя дошло больше денег без необходимости ежедневно следить за валютным рынком самому.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Блок 2 — Чем отличаемся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93392"/>
            <a:ext cx="73152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Курс-трекеры (XE, Wise alerts)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134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Алерт на порог, заданный пользователем вручную. У нас: момент определяет сигнальный слой — клиенту не нужно настраивать пороги.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456432"/>
            <a:ext cx="73152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3456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«Best time to send» у Wise / Remitly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7764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Исторический контекст без walk-forward валидации. У нас: ML + walk-forward OOT + явный запрет на прогноз.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919472"/>
            <a:ext cx="73152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4919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E-commerce «успей купить»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52395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Срочность = имплицитный прогноз. У нас: только факты о прошлом/настоящем, никогда не предсказание.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Блок 3 — Сценарий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029967"/>
            <a:ext cx="777240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214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Пуш с фактом о курсе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2688335"/>
            <a:ext cx="0" cy="438913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321040" y="3419856"/>
            <a:ext cx="777240" cy="6583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ЭКРАН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51129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Экран текущего курса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05088" y="4078224"/>
            <a:ext cx="0" cy="438912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321040" y="4809744"/>
            <a:ext cx="777240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ФОРМА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901183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Предзаполненная форма перевода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Выбранный подход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Log-return percentile rank как основной индикатор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" y="1371600"/>
            <a:ext cx="141732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CBR XML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Calibri"/>
              </a:rPr>
              <a:t>Источник данных
ЦБ РФ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46504" y="1874519"/>
            <a:ext cx="13716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874519" y="1371600"/>
            <a:ext cx="141732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Нормализация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Calibri"/>
              </a:rPr>
              <a:t>VunitRate,
forward-fill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00983" y="1874519"/>
            <a:ext cx="13716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429000" y="1371600"/>
            <a:ext cx="141732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Индикаторы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Calibri"/>
              </a:rPr>
              <a:t>Log-return
percentile rank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55464" y="1874519"/>
            <a:ext cx="13716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83479" y="1371600"/>
            <a:ext cx="141732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Бэктест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Calibri"/>
              </a:rPr>
              <a:t>Walk-forward,
CI bootstrap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9943" y="1874519"/>
            <a:ext cx="13716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37959" y="1371600"/>
            <a:ext cx="141732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ML-слой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Calibri"/>
              </a:rPr>
              <a:t>LightGBM,
asymm. loss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64423" y="1874519"/>
            <a:ext cx="13716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092440" y="1371600"/>
            <a:ext cx="141732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Pipeline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Calibri"/>
              </a:rPr>
              <a:t>Cooldown,
tier filter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18904" y="1874519"/>
            <a:ext cx="13716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46919" y="1371600"/>
            <a:ext cx="141732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Push-текст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Calibri"/>
              </a:rPr>
              <a:t>Compliance
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Ключевое решение: индикатор работает на log-return (I(0) — стационарный ряд), а не на абсолютном уровне курса (I(1) — требует дифференцирования).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Почему это важно: абсолютный уровень курса имеет единичный корень — percentile rank по нему технически некорректен и даёт lift &lt; 1.0. Log-return является стационарным, percentile rank интерпретируется корректно, lift на KGS/TJS достигает 1.6.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11247120" cy="777240"/>
          </a:xfrm>
          <a:prstGeom prst="rect">
            <a:avLst/>
          </a:prstGeom>
          <a:solidFill>
            <a:srgbClr val="F8E8E8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Compliance ограничение: push-текст содержит только факты прошлого и настоящего. </a:t>
            </a:r>
            <a:r>
              <a:rPr sz="1200" b="1">
                <a:solidFill>
                  <a:srgbClr val="CC0000"/>
                </a:solidFill>
                <a:latin typeface="Calibri"/>
              </a:rPr>
              <a:t>Запрещены: предсказания, срочность, гарантии, инвестиционные формулировки.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Архитектура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Модульная структура · 2 150 строк production-кода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325880"/>
            <a:ext cx="347472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C0000"/>
                </a:solidFill>
                <a:latin typeface="Calibri"/>
              </a:rPr>
              <a:t>src/data/</a:t>
            </a:r>
          </a:p>
          <a:p>
            <a:r>
              <a:rPr sz="1000">
                <a:solidFill>
                  <a:srgbClr val="555555"/>
                </a:solidFill>
                <a:latin typeface="Calibri"/>
              </a:rPr>
              <a:t>Загрузка и нормализация курсов
CBR XML → parquet, VunitRate, forward-fill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325880"/>
            <a:ext cx="347472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C0000"/>
                </a:solidFill>
                <a:latin typeface="Calibri"/>
              </a:rPr>
              <a:t>src/indicators/</a:t>
            </a:r>
          </a:p>
          <a:p>
            <a:r>
              <a:rPr sz="1000">
                <a:solidFill>
                  <a:srgbClr val="555555"/>
                </a:solidFill>
                <a:latin typeface="Calibri"/>
              </a:rPr>
              <a:t>8 индикаторов · BaseIndicator
Log-return percentile, RSI, Volatility regime, Bollinger, Calendar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325880"/>
            <a:ext cx="347472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C0000"/>
                </a:solidFill>
                <a:latin typeface="Calibri"/>
              </a:rPr>
              <a:t>src/backtest/</a:t>
            </a:r>
          </a:p>
          <a:p>
            <a:r>
              <a:rPr sz="1000">
                <a:solidFill>
                  <a:srgbClr val="555555"/>
                </a:solidFill>
                <a:latin typeface="Calibri"/>
              </a:rPr>
              <a:t>Walk-forward engine
Hit rate A/B, lift, CI bootstrap (2000 resamples, 90d blocks)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37560"/>
            <a:ext cx="347472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C0000"/>
                </a:solidFill>
                <a:latin typeface="Calibri"/>
              </a:rPr>
              <a:t>src/ml/</a:t>
            </a:r>
          </a:p>
          <a:p>
            <a:r>
              <a:rPr sz="1000">
                <a:solidFill>
                  <a:srgbClr val="555555"/>
                </a:solidFill>
                <a:latin typeface="Calibri"/>
              </a:rPr>
              <a:t>LightGBM walk-forward
Features (10 cols), labels (local min h=5), asymmetric loss FP×3, two-tier thresh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3337560"/>
            <a:ext cx="347472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C0000"/>
                </a:solidFill>
                <a:latin typeface="Calibri"/>
              </a:rPr>
              <a:t>src/pipeline/</a:t>
            </a:r>
          </a:p>
          <a:p>
            <a:r>
              <a:rPr sz="1000">
                <a:solidFill>
                  <a:srgbClr val="555555"/>
                </a:solidFill>
                <a:latin typeface="Calibri"/>
              </a:rPr>
              <a:t>Генерация сигналов
Mandatory / optional tier, cooldown 3d, cap 2 sig/wk, compliance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337560"/>
            <a:ext cx="347472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C0000"/>
                </a:solidFill>
                <a:latin typeface="Calibri"/>
              </a:rPr>
              <a:t>src/texts/</a:t>
            </a:r>
          </a:p>
          <a:p>
            <a:r>
              <a:rPr sz="1000">
                <a:solidFill>
                  <a:srgbClr val="555555"/>
                </a:solidFill>
                <a:latin typeface="Calibri"/>
              </a:rPr>
              <a:t>Push-текст
Compliance validator + formatter, шаблоны только по фактам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2103120"/>
            <a:ext cx="18288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98079" y="2103120"/>
            <a:ext cx="18288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4114800"/>
            <a:ext cx="18288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4114800"/>
            <a:ext cx="182880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" y="5074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Данные: 19 500 строк · 5 коридоров · 1 642 торговых дня/коридор · 6 ADR · 3 итерационных лога · 25 unit-тестов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Выполненные этапы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Этап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Ключевое решение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01 · Данные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✓ Завершён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CBR VunitRate; cutoff 2022-04-01 (post-shock); forward-fill выходных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19 500 строк, parquet, is_trading_day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02 · Индикаторы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✓ Завершён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Log-return rank (I(0)) вместо абсолютного уровня (I(1))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 вариантов; LogReturnPercentile — основной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03 · Бэктест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✓ Завершён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Walk-forward 2y/3m, embargo 5d, hit def A+B, CI bootstrap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KGS/TJS: lift 1.5–1.6, CI lower bound &gt;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04 · ML-слой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◑ Частично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LightGBM, асимметричный loss (FP × 3), two-tier порог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Модель обучена; финальная OOT валидация — pending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05 ·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◑ Частично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Mandatory/optional tier, cooldown 3d, compliance validator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generate_signals() готов; интеграционные тесты — 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Предварительные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Индикатор: LogReturnPercentile · confirm_days=2 · h=5 рабочих дней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503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Коридор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Lift h=5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CI 90% нижняя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Сигн. / нед.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Вердикт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RUB / KGS (сом)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✓ CI &gt;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RUB / TJS (сомони)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✓ CI &gt; 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RUB / AMD (драм)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⚠ CI &lt;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RUB / UZS (сум)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⚠ CI &lt; 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RUB / KZT (тенге)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✗ Нет сигнала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503920" y="1325880"/>
            <a:ext cx="3200400" cy="3840480"/>
          </a:xfrm>
          <a:prstGeom prst="rect">
            <a:avLst/>
          </a:prstGeom>
          <a:solidFill>
            <a:srgbClr val="F8E8E8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C0000"/>
                </a:solidFill>
                <a:latin typeface="Calibri"/>
              </a:rPr>
              <a:t>Честное ограничение</a:t>
            </a:r>
          </a:p>
          <a:p>
            <a:endParaRPr sz="1300" b="1">
              <a:solidFill>
                <a:srgbClr val="CC0000"/>
              </a:solidFill>
              <a:latin typeface="Calibri"/>
            </a:endParaRPr>
          </a:p>
          <a:p>
            <a:r>
              <a:rPr sz="1100" b="0">
                <a:solidFill>
                  <a:srgbClr val="1A1A1A"/>
                </a:solidFill>
                <a:latin typeface="Calibri"/>
              </a:rPr>
              <a:t>Частота 0.08–0.11 сигн./нед значительно ниже целевых 1–2.</a:t>
            </a:r>
          </a:p>
          <a:p>
            <a:endParaRPr sz="1100" b="0">
              <a:solidFill>
                <a:srgbClr val="1A1A1A"/>
              </a:solidFill>
              <a:latin typeface="Calibri"/>
            </a:endParaRP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Строгое подтверждение (confirm=2) обеспечивает точность, но режет частоту.</a:t>
            </a:r>
          </a:p>
          <a:p>
            <a:endParaRPr sz="1100" b="0">
              <a:solidFill>
                <a:srgbClr val="555555"/>
              </a:solidFill>
              <a:latin typeface="Calibri"/>
            </a:endParaRP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Trade-off: релакс порога повышает частоту за счёт снижения lift.</a:t>
            </a:r>
          </a:p>
          <a:p>
            <a:endParaRPr sz="1100" b="0">
              <a:solidFill>
                <a:srgbClr val="555555"/>
              </a:solidFill>
              <a:latin typeface="Calibri"/>
            </a:endParaRPr>
          </a:p>
          <a:p>
            <a:r>
              <a:rPr sz="1100" b="0">
                <a:solidFill>
                  <a:srgbClr val="1A1A1A"/>
                </a:solidFill>
                <a:latin typeface="Calibri"/>
              </a:rPr>
              <a:t>KGS и TJS — единственные коридоры с CI нижней границей &gt; 1.0.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Базовая модель (абсолютный percentile) — lift 0.86–0.97 (&lt; 1.0): работает хуже случайного выбора дня.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Открытые вопросы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0000"/>
                </a:solidFill>
                <a:latin typeface="Calibri"/>
              </a:rPr>
              <a:t>1. Частота vs точность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Текущий confirm_days=2 обеспечивает lift 1.5–1.6 на KGS/TJS, но даёт 0.09 сигн./нед — в 10× ниже цели. Relaxed вариант (confirm_days=0) даёт 0.46–0.62 сигн./нед, но lift не верифицирован на OOT.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0000"/>
                </a:solidFill>
                <a:latin typeface="Calibri"/>
              </a:rPr>
              <a:t>2. Бэктест ≠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558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Логика фильтрации в walk-forward engine и в generate_signals() реализована по-разному. Метрики бэктеста не воспроизводятся точно при запуске pipeline в продакшн-режиме.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17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0000"/>
                </a:solidFill>
                <a:latin typeface="Calibri"/>
              </a:rPr>
              <a:t>3. Экономический эффект в bps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0176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Hit rate &gt; 50% на KGS и TJS подтверждён, но средний прирост в базисных пунктах на горизонте h=5 остаётся отрицательным — направление движения верное, но magnitude недостаточна.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Ключевые риски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Риск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Вероятность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Митигация</a:t>
                      </a:r>
                    </a:p>
                  </a:txBody>
                  <a:tcPr>
                    <a:solidFill>
                      <a:srgbClr val="F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Частота &lt; 1 сигн./нед после полной OOT валидации на нетронутых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Ввести weak-tier (confirm_days=0) с пониженным весом и separate cooldown; или добавить calendar seasonality как второй источник сигналов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Режимный сдвиг (санкции 2022, внешние шоки) нарушает стабильность обучения модели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Cutoff 2022-04-01 устраняет шок из обучения; walk-forward + embargo 5d предотвращает lookahead; volatility regime filter глушит сигналы в кризис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Push-текст нарушает compliance (неявное предсказание, срочность)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Низкая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Встроенный compliance_validator проверяет каждый текст; все шаблоны содержат только факты прошлого ('укрепился', 'выгоднее чем в X% дней')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Переобучение ML-слоя на in-sample данных без истинного OOT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OOT split зафиксирован на 2025-07-01; тест окна не пересекаются с отбором параметров; планируется финальная OOT прогонка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План работ до финальной защиты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25880"/>
            <a:ext cx="11247120" cy="1508760"/>
          </a:xfrm>
          <a:prstGeom prst="rect">
            <a:avLst/>
          </a:prstGeom>
          <a:solidFill>
            <a:srgbClr val="F8E8E8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CC0000"/>
                </a:solidFill>
                <a:latin typeface="Calibri"/>
              </a:rPr>
              <a:t>4–5 сентября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Синхронизировать логику фильтрации: backtest ↔ generate_signals()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OOT валидация с pathwise критерием (курс не хуже ни в один из T+1..T+h дней)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Проверить weak-tier (confirm_days=0): частота и lift на нетронутых данных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Зафиксировать решение по порогу; пересчитать bps на h=10/20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11247120" cy="150876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CC0000"/>
                </a:solidFill>
                <a:latin typeface="Calibri"/>
              </a:rPr>
              <a:t>6 сентября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Интеграционные тесты end-to-end (test_end_to_end.py)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REPRODUCE.md — точные команды для воспроизведения pipeline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PILOT.md — дизайн пилота, A/B метрики, стоп-критерии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LIMITATIONS.md — честные ограничения: pathwise, bps, частота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800600"/>
            <a:ext cx="11247120" cy="1508760"/>
          </a:xfrm>
          <a:prstGeom prst="rect">
            <a:avLst/>
          </a:prstGeom>
          <a:solidFill>
            <a:srgbClr val="E8F5E9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CC0000"/>
                </a:solidFill>
                <a:latin typeface="Calibri"/>
              </a:rPr>
              <a:t>7 сентября · Финальная защита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Финальный отчёт с метриками по всем коридорам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Пакет документации: README, REPRODUCE, PILOT, LIMITATIONS</a:t>
            </a:r>
          </a:p>
          <a:p>
            <a:r>
              <a:rPr sz="1100">
                <a:solidFill>
                  <a:srgbClr val="1A1A1A"/>
                </a:solidFill>
                <a:latin typeface="Calibri"/>
              </a:rPr>
              <a:t>· Демо pipeline на тестовых данных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Команда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80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25880"/>
            <a:ext cx="3566160" cy="47548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566160" cy="685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Давид Гусейнов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0000"/>
                </a:solidFill>
                <a:latin typeface="Calibri"/>
              </a:rPr>
              <a:t>ML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· Данные: загрузка CBR, нормализация, parquet
· Индикаторы: 8 вариантов, LogReturnPercentile
· Бэктест: walk-forward engine, CI bootstrap
· ML: LightGBM, asymmetric loss, features/labels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5623560"/>
            <a:ext cx="685800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25880"/>
            <a:ext cx="3566160" cy="47548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325880"/>
            <a:ext cx="3566160" cy="685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София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0000"/>
                </a:solidFill>
                <a:latin typeface="Calibri"/>
              </a:rPr>
              <a:t>Product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146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· Продуктовая гипотеза и портрет пользователя
· ADR: 6 файлов архитектурных решений
· Compliance-требования к push-текстам
· Документация: интерфейсы, PIPELINE.md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5623560"/>
            <a:ext cx="685800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25880"/>
            <a:ext cx="3566160" cy="4754880"/>
          </a:xfrm>
          <a:prstGeom prst="rect">
            <a:avLst/>
          </a:prstGeom>
          <a:solidFill>
            <a:srgbClr val="F5F5F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325880"/>
            <a:ext cx="3566160" cy="685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Варя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0000"/>
                </a:solidFill>
                <a:latin typeface="Calibri"/>
              </a:rPr>
              <a:t>Data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5146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· Pipeline: generate_signals(), mandatory/optional
· Push-текст: шаблоны + compliance validator
· Тесты: 25 unit-тестов, no-lookahead suite
· Валидация: lift tables, text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0" y="5623560"/>
            <a:ext cx="685800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1508</Words>
  <Application>Microsoft Macintosh PowerPoint</Application>
  <PresentationFormat>Произвольный</PresentationFormat>
  <Paragraphs>203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k34814</cp:lastModifiedBy>
  <cp:revision>2</cp:revision>
  <dcterms:created xsi:type="dcterms:W3CDTF">2013-01-27T09:14:16Z</dcterms:created>
  <dcterms:modified xsi:type="dcterms:W3CDTF">2026-09-04T13:15:58Z</dcterms:modified>
  <cp:category/>
</cp:coreProperties>
</file>