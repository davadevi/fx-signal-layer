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1A1A1A"/>
                </a:solidFill>
                <a:latin typeface="Calibri"/>
              </a:rPr>
              <a:t>FX Signal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555555"/>
                </a:solidFill>
                <a:latin typeface="Calibri"/>
              </a:rPr>
              <a:t>Система push-сигналов для трансграничных переводов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3429000"/>
            <a:ext cx="9784080" cy="0"/>
          </a:xfrm>
          <a:prstGeom prst="line">
            <a:avLst/>
          </a:prstGeom>
          <a:ln w="27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Alfa-Bank Hackathon · Сентябрь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Давид Гусейнов · София · Варя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Проблема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25880"/>
            <a:ext cx="502920" cy="502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280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Клиент переводит деньги когда удобно ему, а не когда выгоден курс — разница может достигать 2–3% на горизонте недели.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02920" cy="502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517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В приложении нет сигнала о выгодности текущего момента: пользователь не имеет ориентира кроме собственной интуиции.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069080"/>
            <a:ext cx="502920" cy="50292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233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Calibri"/>
              </a:rPr>
              <a:t>Трудовые мигранты совершают 1–2 перевода в месяц, и ошибка в выборе дня стоит реальных денег — при переводе 30 000 ₽ это 600–900 ₽.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Постановка задачи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34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Разработать систему, которая определяет выгодные моменты для трансграничных переводов и генерирует push-уведомление клиенту с описанием текущей ситуации на основе фактов прошлого.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74519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017520"/>
                <a:gridCol w="502920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Метрика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Целевое значение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Обоснование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Lift над случайным днём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≥ 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Порог экономической значимости сигнала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Частота сигналов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1–2 / коридор / неделю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Достаточно для покрытия клиентских паттернов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Горизонт оценки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h = 5 рабочих дней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Реалистичный лаг принятия решения клиентом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Покрытие коридоров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 (TJS, UZS, KGS, AMD, KZT)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Ключевые направления трудовых переводов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Ошибка асимметрии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FP &gt; FN (вес FP = 3×)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Ложный сигнал дороже пропущенного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Продуктовый фокус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Пользователь · Отличия · Сценарий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57200" y="1371600"/>
            <a:ext cx="3657600" cy="52120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51960" y="1371600"/>
            <a:ext cx="3657600" cy="52120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657600" cy="52120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0000"/>
                </a:solidFill>
                <a:latin typeface="Calibri"/>
              </a:rPr>
              <a:t>Блок 1 — Кто и зачем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Трудовой мигрант · зарплатный цикл · один коридор / один получатель
Часовой пояс UTC+5 → запрет пуша 22:00–08:00 по времени получателя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560320"/>
            <a:ext cx="3383280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CC0000"/>
                </a:solidFill>
                <a:latin typeface="Calibri"/>
              </a:rPr>
              <a:t>JTBD</a:t>
            </a:r>
          </a:p>
          <a:p>
            <a:r>
              <a:rPr sz="1200" i="1">
                <a:solidFill>
                  <a:srgbClr val="1A1A1A"/>
                </a:solidFill>
                <a:latin typeface="Calibri"/>
              </a:rPr>
              <a:t>« Когда мне нужно отправить деньги семье, я хочу понимать — сегодня хороший день по курсу или лучше подождать, — чтобы до получателя дошло больше денег без необходимости ежедневно следить за валютным рынком самому.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0000"/>
                </a:solidFill>
                <a:latin typeface="Calibri"/>
              </a:rPr>
              <a:t>Блок 2 — Чем отличаемся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993392"/>
            <a:ext cx="73152" cy="7772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9933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Курс-трекеры (XE, Wise alerts)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31343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Алерт на порог, заданный пользователем вручную. У нас: момент определяет сигнальный слой — клиенту не нужно настраивать пороги.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3456432"/>
            <a:ext cx="73152" cy="7772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345643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«Best time to send» у Wise / Remitly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7764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Исторический контекст без walk-forward валидации. У нас: ML + walk-forward OOT + явный запрет на прогноз.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919472"/>
            <a:ext cx="73152" cy="7772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49194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E-commerce «успей купить»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523951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Срочность = имплицитный прогноз. У нас: только факты о прошлом/настоящем, никогда не предсказание.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1508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0000"/>
                </a:solidFill>
                <a:latin typeface="Calibri"/>
              </a:rPr>
              <a:t>Блок 3 — Сценарий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029967"/>
            <a:ext cx="777240" cy="658368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21408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Пуш с фактом о курсе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05088" y="2688335"/>
            <a:ext cx="0" cy="438913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321040" y="3419856"/>
            <a:ext cx="77724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ЭКРАН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511296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Экран текущего курса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05088" y="4078224"/>
            <a:ext cx="0" cy="438912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8321040" y="4809744"/>
            <a:ext cx="777240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ФОРМА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4901183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Предзаполненная форма перевода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Выбранный подход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Log-return percentile rank как основной индикатор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0040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CBR XML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Источник данных
ЦБ РФ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46504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87451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Нормализация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VunitRate,
forward-fill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00983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429000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Индикаторы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Log-return
percentile rank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55464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98347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Бэктест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Walk-forward,
CI bootstrap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9943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53795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ML-слой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LightGBM,
asymm. loss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64423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092440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Pipeline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Cooldown,
tier filter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18904" y="1874519"/>
            <a:ext cx="13716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646919" y="1371600"/>
            <a:ext cx="1417320" cy="100584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CC0000"/>
                </a:solidFill>
                <a:latin typeface="Calibri"/>
              </a:rPr>
              <a:t>Push-текст</a:t>
            </a:r>
          </a:p>
          <a:p>
            <a:pPr algn="ctr"/>
            <a:r>
              <a:rPr sz="900">
                <a:solidFill>
                  <a:srgbClr val="555555"/>
                </a:solidFill>
                <a:latin typeface="Calibri"/>
              </a:rPr>
              <a:t>Compliance
validated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1A"/>
                </a:solidFill>
                <a:latin typeface="Calibri"/>
              </a:rPr>
              <a:t>Ключевое решение: индикатор работает на log-return (I(0) — стационарный ряд), а не на абсолютном уровне курса (I(1) — требует дифференцирования).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004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Почему это важно: абсолютный уровень курса имеет единичный корень — percentile rank по нему технически некорректен и даёт lift &lt; 1.0. Log-return является стационарным, percentile rank интерпретируется корректно, lift на KGS/TJS достигает 1.6.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54880"/>
            <a:ext cx="11247120" cy="777240"/>
          </a:xfrm>
          <a:prstGeom prst="rect">
            <a:avLst/>
          </a:prstGeom>
          <a:solidFill>
            <a:srgbClr val="F8E8E8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1A"/>
                </a:solidFill>
                <a:latin typeface="Calibri"/>
              </a:rPr>
              <a:t>Compliance ограничение: push-текст содержит только факты прошлого и настоящего. </a:t>
            </a:r>
            <a:r>
              <a:rPr sz="1200" b="1">
                <a:solidFill>
                  <a:srgbClr val="CC0000"/>
                </a:solidFill>
                <a:latin typeface="Calibri"/>
              </a:rPr>
              <a:t>Запрещены: предсказания, срочность, гарантии, инвестиционные формулировки.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Архитектура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Модульная структура · 2 150 строк production-кода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32588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src/data/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Загрузка и нормализация курсов
CBR XML → parquet, VunitRate, forward-fill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0" y="132588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src/indicators/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8 индикаторов · BaseIndicator
Log-return percentile, RSI, Volatility regime, Bollinger, Calendar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32588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src/backtest/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Walk-forward engine
Hit rate A/B, lift, CI bootstrap (2000 resamples, 90d blocks)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33756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src/ml/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LightGBM walk-forward
Features (10 cols), labels (local min h=5), asymmetric loss FP×3, two-tier thresh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333756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src/pipeline/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Генерация сигналов
Mandatory / optional tier, cooldown 3d, cap 2 sig/wk, compliance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3337560"/>
            <a:ext cx="3474720" cy="15544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>
                <a:solidFill>
                  <a:srgbClr val="CC0000"/>
                </a:solidFill>
                <a:latin typeface="Calibri"/>
              </a:rPr>
              <a:t>src/texts/</a:t>
            </a:r>
          </a:p>
          <a:p>
            <a:r>
              <a:rPr sz="1000">
                <a:solidFill>
                  <a:srgbClr val="555555"/>
                </a:solidFill>
                <a:latin typeface="Calibri"/>
              </a:rPr>
              <a:t>Push-текст
Compliance validator + formatter, шаблоны только по фактам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40480" y="210312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79" y="210312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840480" y="411480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4114800"/>
            <a:ext cx="182880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5074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Данные: 19 500 строк · 5 коридоров · 1 642 торговых дня/коридор · 6 ADR · 3 итерационных лога · 25 unit-тестов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Выполненные этапы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4389120"/>
                <a:gridCol w="3657600"/>
              </a:tblGrid>
              <a:tr h="757645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Этап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Ключевое решение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Результат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01 · Данные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CBR VunitRate; cutoff 2022-04-01 (post-shock); forward-fill выходных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19 500 строк, parquet, is_trading_day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02 · Индикаторы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Log-return rank (I(0)) вместо абсолютного уровня (I(1))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 вариантов; LogReturnPercentile — основной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03 · Бэктест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Walk-forward 2y/3m, embargo 5d, hit def A+B, CI bootstrap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KGS/TJS: lift 2.1–2.5, CI lower bound &gt; 1.0 на 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04 · ML-слой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LightGBM, асимметричный loss (FP × 3); деградирует vs. чистый индикатор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Из pipeline исключён — чистый LogReturnPercentile стабильнее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5764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05 · Pipeline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confirm_days=2, stateful cooldown, compliance validator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generate_signals() + stateful history; 30 unit-тестов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65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06 · OOT-валидация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Завершён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Pathwise CI bootstrap; OOT split 2025-07-01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 коридора CI &gt; 1.0: KGS h=5,10; TJS h=5,10; AMD h=10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Результаты — OOT-валидация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LogReturnPercentile · confirm_days=2 · walk-forward 2y/3m · OOT с 2025-07-01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11556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57200"/>
                <a:gridCol w="914400"/>
                <a:gridCol w="1005840"/>
                <a:gridCol w="914400"/>
                <a:gridCol w="100584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Коридор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IS Lift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OOT Lift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CI 95% ↓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Сигн./нед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KGS (сом)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KGS (сом)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TJS (сомони)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TJS (сомони)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2.52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AMD (драм)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CI &gt;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UZS (сум)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5–20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1.2–1.9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1.0–1.3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&lt; 1.0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✗ CI не проходит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RUB / KZT (тенге)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все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~1.1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&lt; 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✗ Нет OOT сигналов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961120" y="1325880"/>
            <a:ext cx="2743200" cy="4389120"/>
          </a:xfrm>
          <a:prstGeom prst="rect">
            <a:avLst/>
          </a:prstGeom>
          <a:solidFill>
            <a:srgbClr val="F8E8E8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C0000"/>
                </a:solidFill>
                <a:latin typeface="Calibri"/>
              </a:rPr>
              <a:t>3 коридора с CI &gt; 1.0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>KGS и TJS: OOT lift выше IS на h=10 — сигнал не деградирует на новых данных.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E65C00"/>
                </a:solidFill>
                <a:latin typeface="Calibri"/>
              </a:rPr>
              <a:t>AMD: проходит только на h=10 (N=4 — малая выборка).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555555"/>
                </a:solidFill>
                <a:latin typeface="Calibri"/>
              </a:rPr>
              <a:t>KZT: нет сигналов в OOT периоде — индикатор не работает.</a:t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  <a:p>
            <a:r>
              <a:rPr sz="1000" b="0">
                <a:solidFill>
                  <a:srgbClr val="1A1A1A"/>
                </a:solidFill>
                <a:latin typeface="Calibri"/>
              </a:rPr>
              <a:t>Частота: 0.033–0.065 сигн./нед — ниже цели 1–2.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Базовая модель (абсолютный percentile) — lift 0.86–0.97 (&lt; 1.0): работает хуже случайного выбора дня.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Открытые вопросы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325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0000"/>
                </a:solidFill>
                <a:latin typeface="Calibri"/>
              </a:rPr>
              <a:t>1. Частота сигналов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confirm_days=2 даёт 0.05–0.07 сигн./нед — в 15–30× ниже цели 1–2/нед. Проверен relaxed вариант (confirm_days=0): 0.37–0.42 сигн./нед (6–7×), но CI &lt; 1.0 на всех коридорах и bps отрицательный (клиент теряет 5–35 бп). c0 статистически и экономически не валидирован — c2 единственный обоснованный выбор.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718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0000"/>
                </a:solidFill>
                <a:latin typeface="Calibri"/>
              </a:rPr>
              <a:t>2. bps подтверждён положительным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55848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Экономический эффект c2: KGS +41/+64 бп (h=5/10), TJS +69/+96 бп, AMD +26/+52 бп. Сигнал идентифицирует локальное дно — рубль укреплялся 2 дня, затем откатывается. Клиент, действующий по сигналу, платит на 40–96 бп меньше среднего курса следующих 10 дней.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0000"/>
                </a:solidFill>
                <a:latin typeface="Calibri"/>
              </a:rPr>
              <a:t>3. AMD — малая выборка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01768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AMD проходит CI на h=10 (lift 2.81, OOT 2.16, CI low 1.30), но N=4 сигнала. Статистическая устойчивость требует накопления OOT-сигналов в реальном пилоте.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Ключевые риски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645920"/>
                <a:gridCol w="5486400"/>
              </a:tblGrid>
              <a:tr h="10058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Риск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Вероятность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  <a:latin typeface="Calibri"/>
                        </a:rPr>
                        <a:t>Митигация</a:t>
                      </a:r>
                    </a:p>
                  </a:txBody>
                  <a:tcPr>
                    <a:solidFill>
                      <a:srgbClr val="F8E8E8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Частота &lt; 1 сигн./нед после полной OOT валидации на нетронутых данных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Ввести weak-tier (confirm_days=0) с пониженным весом и separate cooldown; или добавить calendar seasonality как второй источник сигналов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Режимный сдвиг (санкции 2022, внешние шоки) нарушает стабильность обучения модели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Cutoff 2022-04-01 устраняет шок из обучения; walk-forward + embargo 5d предотвращает lookahead; volatility regime filter глушит сигналы в кризис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Push-текст нарушает compliance (неявное предсказание, срочность)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Низкая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Встроенный compliance_validator проверяет каждый текст; все шаблоны содержат только факты прошлого ('укрепился', 'выгоднее чем в X% дней')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Переобучение ML-слоя на in-sample данных без истинного OOT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OOT split зафиксирован на 2025-07-01; тест окна не пересекаются с отбором параметров; планируется финальная OOT прогонка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Что сделано · 07 сентября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258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OOT-валидация с pathwise CI bootstrap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3 коридора проходят CI &gt; 1.0; KGS/TJS стабильны на нетронутых данных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Синхронизация backtest ↔ runtime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generate_signals() использует ту же логику, что walk-forward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546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Stateful cooldown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История сигналов сохраняется в data/signal_history.json; cooldown работает между запусками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REPRODUCE.md · LIMITATIONS.md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348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Команды воспроизведения; честные ограничения: частота, bps, малая выборка AMD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83480"/>
            <a:ext cx="10972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  <a:latin typeface="Calibri"/>
              </a:rPr>
              <a:t>✓ Pilot Design (05_pilot_design.md)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3492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A/B дизайн, первичные метрики, стоп-критерии, оценка длительности 3–6 мес.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000"/>
                </a:solidFill>
                <a:latin typeface="Calibri"/>
              </a:rPr>
              <a:t>→ 07 сентября: Финальная презентация + Pilot Design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0000"/>
                </a:solidFill>
                <a:latin typeface="Calibri"/>
              </a:rPr>
              <a:t>Команда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841248"/>
            <a:ext cx="11274552" cy="0"/>
          </a:xfrm>
          <a:prstGeom prst="line">
            <a:avLst/>
          </a:prstGeom>
          <a:ln w="18000">
            <a:solidFill>
              <a:srgbClr val="CC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325880"/>
            <a:ext cx="3566160" cy="47548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3566160" cy="6858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Давид Гусейнов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Calibri"/>
              </a:rPr>
              <a:t>ML Engineer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146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· Данные: загрузка CBR, нормализация, parquet
· Индикаторы: 8 вариантов, LogReturnPercentile
· Бэктест: walk-forward engine, CI bootstrap
· ML: LightGBM, asymmetric loss, features/labels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5623560"/>
            <a:ext cx="685800" cy="3200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33%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325880"/>
            <a:ext cx="3566160" cy="47548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6240" y="1325880"/>
            <a:ext cx="3566160" cy="6858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София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Calibri"/>
              </a:rPr>
              <a:t>Product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5146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· Продуктовая гипотеза и портрет пользователя
· ADR: 6 файлов архитектурных решений
· Compliance-требования к push-текстам
· Документация: интерфейсы, PIPELINE.md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5623560"/>
            <a:ext cx="685800" cy="3200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325880"/>
            <a:ext cx="3566160" cy="4754880"/>
          </a:xfrm>
          <a:prstGeom prst="rect">
            <a:avLst/>
          </a:prstGeom>
          <a:solidFill>
            <a:srgbClr val="F5F5F5"/>
          </a:solidFill>
          <a:ln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55279" y="1325880"/>
            <a:ext cx="3566160" cy="6858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Варя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0000"/>
                </a:solidFill>
                <a:latin typeface="Calibri"/>
              </a:rPr>
              <a:t>Data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514600"/>
            <a:ext cx="3291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· Pipeline: generate_signals(), mandatory/optional
· Push-текст: шаблоны + compliance validator
· Тесты: 25 unit-тестов, no-lookahead suite
· Валидация: lift tables, text 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98480" y="5623560"/>
            <a:ext cx="685800" cy="3200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33%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