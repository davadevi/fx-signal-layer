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61"/>
  </p:normalViewPr>
  <p:slideViewPr>
    <p:cSldViewPr snapToGrid="0" snapToObjects="1">
      <p:cViewPr varScale="1">
        <p:scale>
          <a:sx n="114" d="100"/>
          <a:sy n="114" d="100"/>
        </p:scale>
        <p:origin x="66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02920" y="356616"/>
            <a:ext cx="201168" cy="16459"/>
          </a:xfrm>
          <a:prstGeom prst="rect">
            <a:avLst/>
          </a:prstGeom>
          <a:solidFill>
            <a:srgbClr val="266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274320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26675F"/>
                </a:solidFill>
                <a:latin typeface="Calibri"/>
              </a:rPr>
              <a:t>  КЛИЕНТСКИЙ ПУТЬ · FX SIGNAL LAYER · ALFA-BANK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12161A"/>
                </a:solidFill>
                <a:latin typeface="Calibri"/>
              </a:rPr>
              <a:t>От сигнала к переводу — пять шагов</a:t>
            </a:r>
          </a:p>
        </p:txBody>
      </p:sp>
      <p:sp>
        <p:nvSpPr>
          <p:cNvPr id="6" name="Pentagon 5"/>
          <p:cNvSpPr/>
          <p:nvPr/>
        </p:nvSpPr>
        <p:spPr>
          <a:xfrm>
            <a:off x="365760" y="1481328"/>
            <a:ext cx="2377440" cy="1828800"/>
          </a:xfrm>
          <a:prstGeom prst="homePlate">
            <a:avLst/>
          </a:prstGeom>
          <a:solidFill>
            <a:srgbClr val="266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344168" y="1682496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44168" y="1682496"/>
            <a:ext cx="42062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6675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57984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Сигнал срабатывает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74720"/>
            <a:ext cx="1771929" cy="559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 dirty="0" err="1">
                <a:solidFill>
                  <a:srgbClr val="6D747F"/>
                </a:solidFill>
                <a:latin typeface="Calibri"/>
              </a:rPr>
              <a:t>Рубль</a:t>
            </a:r>
            <a:r>
              <a:rPr sz="1100" b="0" i="0" dirty="0">
                <a:solidFill>
                  <a:srgbClr val="6D747F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D747F"/>
                </a:solidFill>
                <a:latin typeface="Calibri"/>
              </a:rPr>
              <a:t>укрепляется</a:t>
            </a:r>
            <a:endParaRPr sz="1100" b="0" i="0" dirty="0">
              <a:solidFill>
                <a:srgbClr val="6D747F"/>
              </a:solidFill>
              <a:latin typeface="Calibri"/>
            </a:endParaRPr>
          </a:p>
          <a:p>
            <a:pPr algn="ctr">
              <a:spcAft>
                <a:spcPts val="200"/>
              </a:spcAft>
            </a:pPr>
            <a:r>
              <a:rPr sz="1100" b="0" i="0" dirty="0" err="1">
                <a:solidFill>
                  <a:srgbClr val="6D747F"/>
                </a:solidFill>
                <a:latin typeface="Calibri"/>
              </a:rPr>
              <a:t>быстрее</a:t>
            </a:r>
            <a:r>
              <a:rPr sz="1100" b="0" i="0" dirty="0">
                <a:solidFill>
                  <a:srgbClr val="6D747F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D747F"/>
                </a:solidFill>
                <a:latin typeface="Calibri"/>
              </a:rPr>
              <a:t>обычного</a:t>
            </a:r>
            <a:endParaRPr sz="1100" b="0" i="0" dirty="0">
              <a:solidFill>
                <a:srgbClr val="6D747F"/>
              </a:solidFill>
              <a:latin typeface="Calibri"/>
            </a:endParaRPr>
          </a:p>
          <a:p>
            <a:pPr algn="ctr">
              <a:spcAft>
                <a:spcPts val="200"/>
              </a:spcAft>
            </a:pPr>
            <a:r>
              <a:rPr sz="1100" b="0" i="0" dirty="0">
                <a:solidFill>
                  <a:srgbClr val="6D747F"/>
                </a:solidFill>
                <a:latin typeface="Calibri"/>
              </a:rPr>
              <a:t>2 </a:t>
            </a:r>
            <a:r>
              <a:rPr sz="1100" b="0" i="0" dirty="0" err="1">
                <a:solidFill>
                  <a:srgbClr val="6D747F"/>
                </a:solidFill>
                <a:latin typeface="Calibri"/>
              </a:rPr>
              <a:t>дня</a:t>
            </a:r>
            <a:r>
              <a:rPr sz="1100" b="0" i="0" dirty="0">
                <a:solidFill>
                  <a:srgbClr val="6D747F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D747F"/>
                </a:solidFill>
                <a:latin typeface="Calibri"/>
              </a:rPr>
              <a:t>подряд</a:t>
            </a:r>
            <a:endParaRPr sz="1100" b="0" i="0" dirty="0">
              <a:solidFill>
                <a:srgbClr val="6D747F"/>
              </a:solidFill>
              <a:latin typeface="Calibri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2514600" y="1481328"/>
            <a:ext cx="2377440" cy="1828800"/>
          </a:xfrm>
          <a:prstGeom prst="chevron">
            <a:avLst/>
          </a:prstGeom>
          <a:solidFill>
            <a:srgbClr val="528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93008" y="1682496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93008" y="1682496"/>
            <a:ext cx="42062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6675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2121408"/>
            <a:ext cx="1307592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Calibri"/>
              </a:rPr>
              <a:t>Push-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уведомление</a:t>
            </a:r>
            <a:endParaRPr sz="13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51760" y="3474720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 dirty="0" err="1">
                <a:solidFill>
                  <a:srgbClr val="6D747F"/>
                </a:solidFill>
                <a:latin typeface="Calibri"/>
              </a:rPr>
              <a:t>Факт</a:t>
            </a:r>
            <a:r>
              <a:rPr sz="1100" b="0" i="0" dirty="0">
                <a:solidFill>
                  <a:srgbClr val="6D747F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D747F"/>
                </a:solidFill>
                <a:latin typeface="Calibri"/>
              </a:rPr>
              <a:t>о</a:t>
            </a:r>
            <a:r>
              <a:rPr sz="1100" b="0" i="0" dirty="0">
                <a:solidFill>
                  <a:srgbClr val="6D747F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D747F"/>
                </a:solidFill>
                <a:latin typeface="Calibri"/>
              </a:rPr>
              <a:t>курсе</a:t>
            </a:r>
            <a:endParaRPr sz="1100" b="0" i="0" dirty="0">
              <a:solidFill>
                <a:srgbClr val="6D747F"/>
              </a:solidFill>
              <a:latin typeface="Calibri"/>
            </a:endParaRPr>
          </a:p>
          <a:p>
            <a:pPr algn="ctr">
              <a:spcAft>
                <a:spcPts val="200"/>
              </a:spcAft>
            </a:pPr>
            <a:r>
              <a:rPr sz="1100" b="0" i="0" dirty="0" err="1">
                <a:solidFill>
                  <a:srgbClr val="6D747F"/>
                </a:solidFill>
                <a:latin typeface="Calibri"/>
              </a:rPr>
              <a:t>Без</a:t>
            </a:r>
            <a:r>
              <a:rPr sz="1100" b="0" i="0" dirty="0">
                <a:solidFill>
                  <a:srgbClr val="6D747F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D747F"/>
                </a:solidFill>
                <a:latin typeface="Calibri"/>
              </a:rPr>
              <a:t>прогнозов</a:t>
            </a:r>
            <a:endParaRPr sz="1100" b="0" i="0" dirty="0">
              <a:solidFill>
                <a:srgbClr val="6D747F"/>
              </a:solidFill>
              <a:latin typeface="Calibri"/>
            </a:endParaRPr>
          </a:p>
          <a:p>
            <a:pPr algn="ctr">
              <a:spcAft>
                <a:spcPts val="200"/>
              </a:spcAft>
            </a:pPr>
            <a:r>
              <a:rPr sz="1100" b="0" i="0" dirty="0" err="1">
                <a:solidFill>
                  <a:srgbClr val="6D747F"/>
                </a:solidFill>
                <a:latin typeface="Calibri"/>
              </a:rPr>
              <a:t>Не</a:t>
            </a:r>
            <a:r>
              <a:rPr sz="1100" b="0" i="0" dirty="0">
                <a:solidFill>
                  <a:srgbClr val="6D747F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D747F"/>
                </a:solidFill>
                <a:latin typeface="Calibri"/>
              </a:rPr>
              <a:t>тревожим</a:t>
            </a:r>
            <a:r>
              <a:rPr sz="1100" b="0" i="0" dirty="0">
                <a:solidFill>
                  <a:srgbClr val="6D747F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D747F"/>
                </a:solidFill>
                <a:latin typeface="Calibri"/>
              </a:rPr>
              <a:t>ночью</a:t>
            </a:r>
            <a:endParaRPr sz="1100" b="0" i="0" dirty="0">
              <a:solidFill>
                <a:srgbClr val="6D747F"/>
              </a:solidFill>
              <a:latin typeface="Calibri"/>
            </a:endParaRPr>
          </a:p>
        </p:txBody>
      </p:sp>
      <p:sp>
        <p:nvSpPr>
          <p:cNvPr id="16" name="Chevron 15"/>
          <p:cNvSpPr/>
          <p:nvPr/>
        </p:nvSpPr>
        <p:spPr>
          <a:xfrm>
            <a:off x="4663440" y="1481328"/>
            <a:ext cx="2377440" cy="1828800"/>
          </a:xfrm>
          <a:prstGeom prst="chevron">
            <a:avLst/>
          </a:prstGeom>
          <a:solidFill>
            <a:srgbClr val="528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641848" y="1682496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41848" y="1682496"/>
            <a:ext cx="42062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6675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6087" y="2157984"/>
            <a:ext cx="1536191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 dirty="0" err="1">
                <a:solidFill>
                  <a:srgbClr val="FFFFFF"/>
                </a:solidFill>
                <a:latin typeface="Calibri"/>
              </a:rPr>
              <a:t>Экран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курса</a:t>
            </a:r>
            <a:endParaRPr sz="13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800600" y="3474720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 dirty="0" err="1">
                <a:solidFill>
                  <a:srgbClr val="6D747F"/>
                </a:solidFill>
                <a:latin typeface="Calibri"/>
              </a:rPr>
              <a:t>Сравнение</a:t>
            </a:r>
            <a:r>
              <a:rPr sz="1100" b="0" i="0" dirty="0">
                <a:solidFill>
                  <a:srgbClr val="6D747F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D747F"/>
                </a:solidFill>
                <a:latin typeface="Calibri"/>
              </a:rPr>
              <a:t>с</a:t>
            </a:r>
            <a:r>
              <a:rPr sz="1100" b="0" i="0" dirty="0">
                <a:solidFill>
                  <a:srgbClr val="6D747F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D747F"/>
                </a:solidFill>
                <a:latin typeface="Calibri"/>
              </a:rPr>
              <a:t>историей</a:t>
            </a:r>
            <a:endParaRPr sz="1100" b="0" i="0" dirty="0">
              <a:solidFill>
                <a:srgbClr val="6D747F"/>
              </a:solidFill>
              <a:latin typeface="Calibri"/>
            </a:endParaRPr>
          </a:p>
          <a:p>
            <a:pPr algn="ctr">
              <a:spcAft>
                <a:spcPts val="200"/>
              </a:spcAft>
            </a:pPr>
            <a:r>
              <a:rPr sz="1100" b="0" i="0" dirty="0" err="1">
                <a:solidFill>
                  <a:srgbClr val="6D747F"/>
                </a:solidFill>
                <a:latin typeface="Calibri"/>
              </a:rPr>
              <a:t>за</a:t>
            </a:r>
            <a:r>
              <a:rPr sz="1100" b="0" i="0" dirty="0">
                <a:solidFill>
                  <a:srgbClr val="6D747F"/>
                </a:solidFill>
                <a:latin typeface="Calibri"/>
              </a:rPr>
              <a:t> 3 </a:t>
            </a:r>
            <a:r>
              <a:rPr sz="1100" b="0" i="0" dirty="0" err="1">
                <a:solidFill>
                  <a:srgbClr val="6D747F"/>
                </a:solidFill>
                <a:latin typeface="Calibri"/>
              </a:rPr>
              <a:t>месяца</a:t>
            </a:r>
            <a:endParaRPr sz="1100" b="0" i="0" dirty="0">
              <a:solidFill>
                <a:srgbClr val="6D747F"/>
              </a:solidFill>
              <a:latin typeface="Calibri"/>
            </a:endParaRPr>
          </a:p>
          <a:p>
            <a:pPr algn="ctr">
              <a:spcAft>
                <a:spcPts val="200"/>
              </a:spcAft>
            </a:pPr>
            <a:r>
              <a:rPr sz="1100" b="0" i="0" dirty="0" err="1">
                <a:solidFill>
                  <a:srgbClr val="6D747F"/>
                </a:solidFill>
                <a:latin typeface="Calibri"/>
              </a:rPr>
              <a:t>Курс</a:t>
            </a:r>
            <a:r>
              <a:rPr sz="1100" b="0" i="0" dirty="0">
                <a:solidFill>
                  <a:srgbClr val="6D747F"/>
                </a:solidFill>
                <a:latin typeface="Calibri"/>
              </a:rPr>
              <a:t> ЦБ </a:t>
            </a:r>
            <a:r>
              <a:rPr sz="1100" b="0" i="0" dirty="0" err="1">
                <a:solidFill>
                  <a:srgbClr val="6D747F"/>
                </a:solidFill>
                <a:latin typeface="Calibri"/>
              </a:rPr>
              <a:t>сейчас</a:t>
            </a:r>
            <a:endParaRPr sz="1100" b="0" i="0" dirty="0">
              <a:solidFill>
                <a:srgbClr val="6D747F"/>
              </a:solidFill>
              <a:latin typeface="Calibri"/>
            </a:endParaRPr>
          </a:p>
        </p:txBody>
      </p:sp>
      <p:sp>
        <p:nvSpPr>
          <p:cNvPr id="21" name="Chevron 20"/>
          <p:cNvSpPr/>
          <p:nvPr/>
        </p:nvSpPr>
        <p:spPr>
          <a:xfrm>
            <a:off x="6812280" y="1481328"/>
            <a:ext cx="2377440" cy="1828800"/>
          </a:xfrm>
          <a:prstGeom prst="chevron">
            <a:avLst/>
          </a:prstGeom>
          <a:solidFill>
            <a:srgbClr val="266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790688" y="1682496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90688" y="1682496"/>
            <a:ext cx="42062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 dirty="0">
                <a:solidFill>
                  <a:srgbClr val="26675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2086" y="2121408"/>
            <a:ext cx="1399034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 dirty="0" err="1">
                <a:solidFill>
                  <a:srgbClr val="FFFFFF"/>
                </a:solidFill>
                <a:latin typeface="Calibri"/>
              </a:rPr>
              <a:t>Форма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перевода</a:t>
            </a:r>
            <a:endParaRPr sz="13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49440" y="3474720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 dirty="0" err="1">
                <a:solidFill>
                  <a:srgbClr val="6D747F"/>
                </a:solidFill>
                <a:latin typeface="Calibri"/>
              </a:rPr>
              <a:t>Предзаполнена</a:t>
            </a:r>
            <a:r>
              <a:rPr sz="1100" b="0" i="0" dirty="0">
                <a:solidFill>
                  <a:srgbClr val="6D747F"/>
                </a:solidFill>
                <a:latin typeface="Calibri"/>
              </a:rPr>
              <a:t>:</a:t>
            </a:r>
          </a:p>
          <a:p>
            <a:pPr algn="ctr">
              <a:spcAft>
                <a:spcPts val="200"/>
              </a:spcAft>
            </a:pPr>
            <a:r>
              <a:rPr sz="1100" b="0" i="0" dirty="0" err="1">
                <a:solidFill>
                  <a:srgbClr val="6D747F"/>
                </a:solidFill>
                <a:latin typeface="Calibri"/>
              </a:rPr>
              <a:t>сумма</a:t>
            </a:r>
            <a:r>
              <a:rPr sz="1100" b="0" i="0" dirty="0">
                <a:solidFill>
                  <a:srgbClr val="6D747F"/>
                </a:solidFill>
                <a:latin typeface="Calibri"/>
              </a:rPr>
              <a:t>, </a:t>
            </a:r>
            <a:r>
              <a:rPr sz="1100" b="0" i="0" dirty="0" err="1">
                <a:solidFill>
                  <a:srgbClr val="6D747F"/>
                </a:solidFill>
                <a:latin typeface="Calibri"/>
              </a:rPr>
              <a:t>получатель</a:t>
            </a:r>
            <a:r>
              <a:rPr sz="1100" b="0" i="0" dirty="0">
                <a:solidFill>
                  <a:srgbClr val="6D747F"/>
                </a:solidFill>
                <a:latin typeface="Calibri"/>
              </a:rPr>
              <a:t>,</a:t>
            </a:r>
          </a:p>
          <a:p>
            <a:pPr algn="ctr">
              <a:spcAft>
                <a:spcPts val="200"/>
              </a:spcAft>
            </a:pPr>
            <a:r>
              <a:rPr sz="1100" b="0" i="0" dirty="0" err="1">
                <a:solidFill>
                  <a:srgbClr val="6D747F"/>
                </a:solidFill>
                <a:latin typeface="Calibri"/>
              </a:rPr>
              <a:t>направление</a:t>
            </a:r>
            <a:endParaRPr sz="1100" b="0" i="0" dirty="0">
              <a:solidFill>
                <a:srgbClr val="6D747F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098280" y="3474720"/>
            <a:ext cx="2103120" cy="3642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 dirty="0" err="1">
                <a:solidFill>
                  <a:srgbClr val="6D747F"/>
                </a:solidFill>
                <a:latin typeface="Calibri"/>
              </a:rPr>
              <a:t>Осознанно</a:t>
            </a:r>
            <a:r>
              <a:rPr sz="1100" b="0" i="0" dirty="0">
                <a:solidFill>
                  <a:srgbClr val="6D747F"/>
                </a:solidFill>
                <a:latin typeface="Calibri"/>
              </a:rPr>
              <a:t>,</a:t>
            </a:r>
          </a:p>
          <a:p>
            <a:pPr algn="ctr">
              <a:spcAft>
                <a:spcPts val="200"/>
              </a:spcAft>
            </a:pPr>
            <a:r>
              <a:rPr sz="1100" b="0" i="0" dirty="0" err="1">
                <a:solidFill>
                  <a:srgbClr val="6D747F"/>
                </a:solidFill>
                <a:latin typeface="Calibri"/>
              </a:rPr>
              <a:t>в</a:t>
            </a:r>
            <a:r>
              <a:rPr sz="1100" b="0" i="0" dirty="0">
                <a:solidFill>
                  <a:srgbClr val="6D747F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D747F"/>
                </a:solidFill>
                <a:latin typeface="Calibri"/>
              </a:rPr>
              <a:t>хороший</a:t>
            </a:r>
            <a:r>
              <a:rPr sz="1100" b="0" i="0" dirty="0">
                <a:solidFill>
                  <a:srgbClr val="6D747F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D747F"/>
                </a:solidFill>
                <a:latin typeface="Calibri"/>
              </a:rPr>
              <a:t>момент</a:t>
            </a:r>
            <a:endParaRPr sz="1100" b="0" i="0" dirty="0">
              <a:solidFill>
                <a:srgbClr val="6D747F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65760" y="6291072"/>
            <a:ext cx="114300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6D747F"/>
                </a:solidFill>
                <a:latin typeface="Calibri"/>
              </a:rPr>
              <a:t>Предзаполненная форма передаёт сумму, получателя и направление из профиля клиента — реквизиты не нужно набирать заново.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6492240"/>
            <a:ext cx="594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A6ACB3"/>
                </a:solidFill>
                <a:latin typeface="Calibri"/>
              </a:rPr>
              <a:t>1/4</a:t>
            </a:r>
          </a:p>
        </p:txBody>
      </p:sp>
      <p:sp>
        <p:nvSpPr>
          <p:cNvPr id="38" name="Chevron 20">
            <a:extLst>
              <a:ext uri="{FF2B5EF4-FFF2-40B4-BE49-F238E27FC236}">
                <a16:creationId xmlns:a16="http://schemas.microsoft.com/office/drawing/2014/main" id="{D4261090-388E-9CFB-45C7-6BFDB550AF1C}"/>
              </a:ext>
            </a:extLst>
          </p:cNvPr>
          <p:cNvSpPr/>
          <p:nvPr/>
        </p:nvSpPr>
        <p:spPr>
          <a:xfrm>
            <a:off x="9281160" y="1462148"/>
            <a:ext cx="2377440" cy="1828800"/>
          </a:xfrm>
          <a:prstGeom prst="chevron">
            <a:avLst/>
          </a:prstGeom>
          <a:solidFill>
            <a:srgbClr val="266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21">
            <a:extLst>
              <a:ext uri="{FF2B5EF4-FFF2-40B4-BE49-F238E27FC236}">
                <a16:creationId xmlns:a16="http://schemas.microsoft.com/office/drawing/2014/main" id="{79F528B0-D976-ADD9-11BC-01954DD7CCE4}"/>
              </a:ext>
            </a:extLst>
          </p:cNvPr>
          <p:cNvSpPr/>
          <p:nvPr/>
        </p:nvSpPr>
        <p:spPr>
          <a:xfrm>
            <a:off x="10259568" y="1663316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C247D8-EA8C-A22D-6AD6-90B136E9ABE3}"/>
              </a:ext>
            </a:extLst>
          </p:cNvPr>
          <p:cNvSpPr txBox="1"/>
          <p:nvPr/>
        </p:nvSpPr>
        <p:spPr>
          <a:xfrm>
            <a:off x="10259568" y="1715837"/>
            <a:ext cx="420624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 dirty="0">
                <a:solidFill>
                  <a:srgbClr val="26675F"/>
                </a:solidFill>
                <a:latin typeface="Calibri"/>
              </a:rPr>
              <a:t>0</a:t>
            </a:r>
            <a:r>
              <a:rPr lang="ru-RU" sz="1100" b="1" dirty="0">
                <a:solidFill>
                  <a:srgbClr val="26675F"/>
                </a:solidFill>
                <a:latin typeface="Calibri"/>
              </a:rPr>
              <a:t>5</a:t>
            </a:r>
            <a:endParaRPr sz="1100" b="1" i="0" dirty="0">
              <a:solidFill>
                <a:srgbClr val="26675F"/>
              </a:solidFill>
              <a:latin typeface="Calibri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AFC1807-B9BF-687E-D40A-B14EE79C049F}"/>
              </a:ext>
            </a:extLst>
          </p:cNvPr>
          <p:cNvSpPr txBox="1"/>
          <p:nvPr/>
        </p:nvSpPr>
        <p:spPr>
          <a:xfrm>
            <a:off x="10030966" y="2102228"/>
            <a:ext cx="1399034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ru-RU" sz="1300" b="1" dirty="0">
                <a:solidFill>
                  <a:schemeClr val="bg1"/>
                </a:solidFill>
              </a:rPr>
              <a:t>Клиент переводит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56616"/>
            <a:ext cx="201168" cy="16459"/>
          </a:xfrm>
          <a:prstGeom prst="rect">
            <a:avLst/>
          </a:prstGeom>
          <a:solidFill>
            <a:srgbClr val="266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274320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26675F"/>
                </a:solidFill>
                <a:latin typeface="Calibri"/>
              </a:rPr>
              <a:t>  ВЫБОР СИГНАЛА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12161A"/>
                </a:solidFill>
                <a:latin typeface="Calibri"/>
              </a:rPr>
              <a:t>Скорость изменения курса с подтверждением разворота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81328"/>
            <a:ext cx="5166360" cy="4800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709928"/>
            <a:ext cx="47091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6D747F"/>
                </a:solidFill>
                <a:latin typeface="Calibri"/>
              </a:rPr>
              <a:t>ЧТО ВЫБРАЛИ И ПОЧЕМУ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084831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sz="1300" b="1" i="0" dirty="0" err="1">
                <a:solidFill>
                  <a:srgbClr val="12161A"/>
                </a:solidFill>
                <a:latin typeface="Calibri"/>
              </a:rPr>
              <a:t>Смотрим</a:t>
            </a:r>
            <a:r>
              <a:rPr sz="1300" b="1" i="0" dirty="0">
                <a:solidFill>
                  <a:srgbClr val="12161A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12161A"/>
                </a:solidFill>
                <a:latin typeface="Calibri"/>
              </a:rPr>
              <a:t>на</a:t>
            </a:r>
            <a:r>
              <a:rPr sz="1300" b="1" i="0" dirty="0">
                <a:solidFill>
                  <a:srgbClr val="12161A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12161A"/>
                </a:solidFill>
                <a:latin typeface="Calibri"/>
              </a:rPr>
              <a:t>скорость</a:t>
            </a:r>
            <a:r>
              <a:rPr sz="1300" b="1" i="0" dirty="0">
                <a:solidFill>
                  <a:srgbClr val="12161A"/>
                </a:solidFill>
                <a:latin typeface="Calibri"/>
              </a:rPr>
              <a:t>, </a:t>
            </a:r>
            <a:r>
              <a:rPr sz="1300" b="1" i="0" dirty="0" err="1">
                <a:solidFill>
                  <a:srgbClr val="12161A"/>
                </a:solidFill>
                <a:latin typeface="Calibri"/>
              </a:rPr>
              <a:t>а</a:t>
            </a:r>
            <a:r>
              <a:rPr sz="1300" b="1" i="0" dirty="0">
                <a:solidFill>
                  <a:srgbClr val="12161A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12161A"/>
                </a:solidFill>
                <a:latin typeface="Calibri"/>
              </a:rPr>
              <a:t>не</a:t>
            </a:r>
            <a:r>
              <a:rPr sz="1300" b="1" i="0" dirty="0">
                <a:solidFill>
                  <a:srgbClr val="12161A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12161A"/>
                </a:solidFill>
                <a:latin typeface="Calibri"/>
              </a:rPr>
              <a:t>на</a:t>
            </a:r>
            <a:r>
              <a:rPr sz="1300" b="1" i="0" dirty="0">
                <a:solidFill>
                  <a:srgbClr val="12161A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12161A"/>
                </a:solidFill>
                <a:latin typeface="Calibri"/>
              </a:rPr>
              <a:t>уровень</a:t>
            </a:r>
            <a:r>
              <a:rPr sz="1300" b="1" i="0" dirty="0">
                <a:solidFill>
                  <a:srgbClr val="12161A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12161A"/>
                </a:solidFill>
                <a:latin typeface="Calibri"/>
              </a:rPr>
              <a:t>курса</a:t>
            </a:r>
            <a:endParaRPr sz="1300" b="1" i="0" dirty="0">
              <a:solidFill>
                <a:srgbClr val="12161A"/>
              </a:solidFill>
              <a:latin typeface="Calibri"/>
            </a:endParaRPr>
          </a:p>
          <a:p>
            <a:pPr marL="256032" indent="-256032" algn="l">
              <a:spcAft>
                <a:spcPts val="300"/>
              </a:spcAft>
              <a:buClr>
                <a:srgbClr val="AE4630"/>
              </a:buClr>
              <a:buSzPct val="85000"/>
              <a:buFont typeface="Calibri"/>
              <a:buChar char="→"/>
            </a:pPr>
            <a:r>
              <a:rPr sz="1200" b="0" i="0" dirty="0" err="1">
                <a:solidFill>
                  <a:srgbClr val="AE4630"/>
                </a:solidFill>
                <a:latin typeface="Calibri"/>
              </a:rPr>
              <a:t>Сам</a:t>
            </a:r>
            <a:r>
              <a:rPr sz="1200" b="0" i="0" dirty="0">
                <a:solidFill>
                  <a:srgbClr val="AE463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AE4630"/>
                </a:solidFill>
                <a:latin typeface="Calibri"/>
              </a:rPr>
              <a:t>курс</a:t>
            </a:r>
            <a:r>
              <a:rPr sz="1200" b="0" i="0" dirty="0">
                <a:solidFill>
                  <a:srgbClr val="AE463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AE4630"/>
                </a:solidFill>
                <a:latin typeface="Calibri"/>
              </a:rPr>
              <a:t>медленно</a:t>
            </a:r>
            <a:r>
              <a:rPr sz="1200" b="0" i="0" dirty="0">
                <a:solidFill>
                  <a:srgbClr val="AE463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AE4630"/>
                </a:solidFill>
                <a:latin typeface="Calibri"/>
              </a:rPr>
              <a:t>дрейфует</a:t>
            </a:r>
            <a:r>
              <a:rPr sz="1200" b="0" i="0" dirty="0">
                <a:solidFill>
                  <a:srgbClr val="AE4630"/>
                </a:solidFill>
                <a:latin typeface="Calibri"/>
              </a:rPr>
              <a:t> — «1.43 </a:t>
            </a:r>
            <a:r>
              <a:rPr sz="1200" b="0" i="0" dirty="0" err="1">
                <a:solidFill>
                  <a:srgbClr val="AE4630"/>
                </a:solidFill>
                <a:latin typeface="Calibri"/>
              </a:rPr>
              <a:t>сегодня</a:t>
            </a:r>
            <a:r>
              <a:rPr sz="1200" b="0" i="0" dirty="0">
                <a:solidFill>
                  <a:srgbClr val="AE4630"/>
                </a:solidFill>
                <a:latin typeface="Calibri"/>
              </a:rPr>
              <a:t>» </a:t>
            </a:r>
            <a:r>
              <a:rPr sz="1200" b="0" i="0" dirty="0" err="1">
                <a:solidFill>
                  <a:srgbClr val="AE4630"/>
                </a:solidFill>
                <a:latin typeface="Calibri"/>
              </a:rPr>
              <a:t>без</a:t>
            </a:r>
            <a:r>
              <a:rPr sz="1200" b="0" i="0" dirty="0">
                <a:solidFill>
                  <a:srgbClr val="AE463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AE4630"/>
                </a:solidFill>
                <a:latin typeface="Calibri"/>
              </a:rPr>
              <a:t>истории</a:t>
            </a:r>
            <a:r>
              <a:rPr sz="1200" b="0" i="0" dirty="0">
                <a:solidFill>
                  <a:srgbClr val="AE463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AE4630"/>
                </a:solidFill>
                <a:latin typeface="Calibri"/>
              </a:rPr>
              <a:t>ничего</a:t>
            </a:r>
            <a:r>
              <a:rPr sz="1200" b="0" i="0" dirty="0">
                <a:solidFill>
                  <a:srgbClr val="AE463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AE4630"/>
                </a:solidFill>
                <a:latin typeface="Calibri"/>
              </a:rPr>
              <a:t>не</a:t>
            </a:r>
            <a:r>
              <a:rPr sz="1200" b="0" i="0" dirty="0">
                <a:solidFill>
                  <a:srgbClr val="AE463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AE4630"/>
                </a:solidFill>
                <a:latin typeface="Calibri"/>
              </a:rPr>
              <a:t>значит</a:t>
            </a:r>
            <a:endParaRPr sz="1200" b="0" i="0" dirty="0">
              <a:solidFill>
                <a:srgbClr val="AE4630"/>
              </a:solidFill>
              <a:latin typeface="Calibri"/>
            </a:endParaRPr>
          </a:p>
          <a:p>
            <a:pPr marL="256032" indent="-256032" algn="l">
              <a:spcAft>
                <a:spcPts val="2000"/>
              </a:spcAft>
              <a:buClr>
                <a:srgbClr val="26675F"/>
              </a:buClr>
              <a:buSzPct val="85000"/>
              <a:buFont typeface="Calibri"/>
              <a:buChar char="→"/>
            </a:pPr>
            <a:r>
              <a:rPr sz="1200" b="0" i="0" dirty="0" err="1">
                <a:solidFill>
                  <a:srgbClr val="26675F"/>
                </a:solidFill>
                <a:latin typeface="Calibri"/>
              </a:rPr>
              <a:t>Скорость</a:t>
            </a:r>
            <a:r>
              <a:rPr sz="1200" b="0" i="0" dirty="0">
                <a:solidFill>
                  <a:srgbClr val="26675F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6675F"/>
                </a:solidFill>
                <a:latin typeface="Calibri"/>
              </a:rPr>
              <a:t>укрепления</a:t>
            </a:r>
            <a:r>
              <a:rPr sz="1200" b="0" i="0" dirty="0">
                <a:solidFill>
                  <a:srgbClr val="26675F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6675F"/>
                </a:solidFill>
                <a:latin typeface="Calibri"/>
              </a:rPr>
              <a:t>за</a:t>
            </a:r>
            <a:r>
              <a:rPr sz="1200" b="0" i="0" dirty="0">
                <a:solidFill>
                  <a:srgbClr val="26675F"/>
                </a:solidFill>
                <a:latin typeface="Calibri"/>
              </a:rPr>
              <a:t> 5 </a:t>
            </a:r>
            <a:r>
              <a:rPr sz="1200" b="0" i="0" dirty="0" err="1">
                <a:solidFill>
                  <a:srgbClr val="26675F"/>
                </a:solidFill>
                <a:latin typeface="Calibri"/>
              </a:rPr>
              <a:t>дней</a:t>
            </a:r>
            <a:r>
              <a:rPr sz="1200" b="0" i="0" dirty="0">
                <a:solidFill>
                  <a:srgbClr val="26675F"/>
                </a:solidFill>
                <a:latin typeface="Calibri"/>
              </a:rPr>
              <a:t> vs </a:t>
            </a:r>
            <a:r>
              <a:rPr sz="1200" b="0" i="0" dirty="0" err="1">
                <a:solidFill>
                  <a:srgbClr val="26675F"/>
                </a:solidFill>
                <a:latin typeface="Calibri"/>
              </a:rPr>
              <a:t>последние</a:t>
            </a:r>
            <a:r>
              <a:rPr sz="1200" b="0" i="0" dirty="0">
                <a:solidFill>
                  <a:srgbClr val="26675F"/>
                </a:solidFill>
                <a:latin typeface="Calibri"/>
              </a:rPr>
              <a:t> 60 </a:t>
            </a:r>
            <a:r>
              <a:rPr sz="1200" b="0" i="0" dirty="0" err="1">
                <a:solidFill>
                  <a:srgbClr val="26675F"/>
                </a:solidFill>
                <a:latin typeface="Calibri"/>
              </a:rPr>
              <a:t>дней</a:t>
            </a:r>
            <a:r>
              <a:rPr sz="1200" b="0" i="0" dirty="0">
                <a:solidFill>
                  <a:srgbClr val="26675F"/>
                </a:solidFill>
                <a:latin typeface="Calibri"/>
              </a:rPr>
              <a:t> — </a:t>
            </a:r>
            <a:r>
              <a:rPr sz="1200" b="0" i="0" dirty="0" err="1">
                <a:solidFill>
                  <a:srgbClr val="26675F"/>
                </a:solidFill>
                <a:latin typeface="Calibri"/>
              </a:rPr>
              <a:t>сравнение</a:t>
            </a:r>
            <a:r>
              <a:rPr sz="1200" b="0" i="0" dirty="0">
                <a:solidFill>
                  <a:srgbClr val="26675F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6675F"/>
                </a:solidFill>
                <a:latin typeface="Calibri"/>
              </a:rPr>
              <a:t>корректное</a:t>
            </a:r>
            <a:endParaRPr sz="1200" b="0" i="0" dirty="0">
              <a:solidFill>
                <a:srgbClr val="26675F"/>
              </a:solidFill>
              <a:latin typeface="Calibri"/>
            </a:endParaRPr>
          </a:p>
          <a:p>
            <a:pPr marL="0" indent="0" algn="l">
              <a:spcAft>
                <a:spcPts val="500"/>
              </a:spcAft>
              <a:buNone/>
            </a:pPr>
            <a:r>
              <a:rPr sz="1300" b="1" i="0" dirty="0" err="1">
                <a:solidFill>
                  <a:srgbClr val="12161A"/>
                </a:solidFill>
                <a:latin typeface="Calibri"/>
              </a:rPr>
              <a:t>Подтверждение</a:t>
            </a:r>
            <a:r>
              <a:rPr sz="1300" b="1" i="0" dirty="0">
                <a:solidFill>
                  <a:srgbClr val="12161A"/>
                </a:solidFill>
                <a:latin typeface="Calibri"/>
              </a:rPr>
              <a:t>: </a:t>
            </a:r>
            <a:r>
              <a:rPr sz="1300" b="1" i="0" dirty="0" err="1">
                <a:solidFill>
                  <a:srgbClr val="12161A"/>
                </a:solidFill>
                <a:latin typeface="Calibri"/>
              </a:rPr>
              <a:t>два</a:t>
            </a:r>
            <a:r>
              <a:rPr sz="1300" b="1" i="0" dirty="0">
                <a:solidFill>
                  <a:srgbClr val="12161A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12161A"/>
                </a:solidFill>
                <a:latin typeface="Calibri"/>
              </a:rPr>
              <a:t>дня</a:t>
            </a:r>
            <a:r>
              <a:rPr sz="1300" b="1" i="0" dirty="0">
                <a:solidFill>
                  <a:srgbClr val="12161A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12161A"/>
                </a:solidFill>
                <a:latin typeface="Calibri"/>
              </a:rPr>
              <a:t>подряд</a:t>
            </a:r>
            <a:r>
              <a:rPr sz="1300" b="1" i="0" dirty="0">
                <a:solidFill>
                  <a:srgbClr val="12161A"/>
                </a:solidFill>
                <a:latin typeface="Calibri"/>
              </a:rPr>
              <a:t>, </a:t>
            </a:r>
            <a:r>
              <a:rPr sz="1300" b="1" i="0" dirty="0" err="1">
                <a:solidFill>
                  <a:srgbClr val="12161A"/>
                </a:solidFill>
                <a:latin typeface="Calibri"/>
              </a:rPr>
              <a:t>а</a:t>
            </a:r>
            <a:r>
              <a:rPr sz="1300" b="1" i="0" dirty="0">
                <a:solidFill>
                  <a:srgbClr val="12161A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12161A"/>
                </a:solidFill>
                <a:latin typeface="Calibri"/>
              </a:rPr>
              <a:t>не</a:t>
            </a:r>
            <a:r>
              <a:rPr sz="1300" b="1" i="0" dirty="0">
                <a:solidFill>
                  <a:srgbClr val="12161A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12161A"/>
                </a:solidFill>
                <a:latin typeface="Calibri"/>
              </a:rPr>
              <a:t>один</a:t>
            </a:r>
            <a:endParaRPr sz="1300" b="1" i="0" dirty="0">
              <a:solidFill>
                <a:srgbClr val="12161A"/>
              </a:solidFill>
              <a:latin typeface="Calibri"/>
            </a:endParaRPr>
          </a:p>
          <a:p>
            <a:pPr marL="256032" indent="-256032" algn="l">
              <a:spcAft>
                <a:spcPts val="300"/>
              </a:spcAft>
              <a:buClr>
                <a:srgbClr val="AE4630"/>
              </a:buClr>
              <a:buSzPct val="85000"/>
              <a:buFont typeface="Calibri"/>
              <a:buChar char="→"/>
            </a:pPr>
            <a:r>
              <a:rPr sz="1200" b="0" i="0" dirty="0" err="1">
                <a:solidFill>
                  <a:srgbClr val="AE4630"/>
                </a:solidFill>
                <a:latin typeface="Calibri"/>
              </a:rPr>
              <a:t>Один</a:t>
            </a:r>
            <a:r>
              <a:rPr sz="1200" b="0" i="0" dirty="0">
                <a:solidFill>
                  <a:srgbClr val="AE463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AE4630"/>
                </a:solidFill>
                <a:latin typeface="Calibri"/>
              </a:rPr>
              <a:t>день</a:t>
            </a:r>
            <a:r>
              <a:rPr sz="1200" b="0" i="0" dirty="0">
                <a:solidFill>
                  <a:srgbClr val="AE4630"/>
                </a:solidFill>
                <a:latin typeface="Calibri"/>
              </a:rPr>
              <a:t> — </a:t>
            </a:r>
            <a:r>
              <a:rPr sz="1200" b="0" i="0" dirty="0" err="1">
                <a:solidFill>
                  <a:srgbClr val="AE4630"/>
                </a:solidFill>
                <a:latin typeface="Calibri"/>
              </a:rPr>
              <a:t>может</a:t>
            </a:r>
            <a:r>
              <a:rPr sz="1200" b="0" i="0" dirty="0">
                <a:solidFill>
                  <a:srgbClr val="AE463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AE4630"/>
                </a:solidFill>
                <a:latin typeface="Calibri"/>
              </a:rPr>
              <a:t>быть</a:t>
            </a:r>
            <a:r>
              <a:rPr sz="1200" b="0" i="0" dirty="0">
                <a:solidFill>
                  <a:srgbClr val="AE463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AE4630"/>
                </a:solidFill>
                <a:latin typeface="Calibri"/>
              </a:rPr>
              <a:t>шумом</a:t>
            </a:r>
            <a:r>
              <a:rPr sz="1200" b="0" i="0" dirty="0">
                <a:solidFill>
                  <a:srgbClr val="AE4630"/>
                </a:solidFill>
                <a:latin typeface="Calibri"/>
              </a:rPr>
              <a:t>: </a:t>
            </a:r>
            <a:r>
              <a:rPr sz="1200" b="0" i="0" dirty="0" err="1">
                <a:solidFill>
                  <a:srgbClr val="AE4630"/>
                </a:solidFill>
                <a:latin typeface="Calibri"/>
              </a:rPr>
              <a:t>сигнал</a:t>
            </a:r>
            <a:r>
              <a:rPr sz="1200" b="0" i="0" dirty="0">
                <a:solidFill>
                  <a:srgbClr val="AE463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AE4630"/>
                </a:solidFill>
                <a:latin typeface="Calibri"/>
              </a:rPr>
              <a:t>ложный</a:t>
            </a:r>
            <a:r>
              <a:rPr sz="1200" b="0" i="0" dirty="0">
                <a:solidFill>
                  <a:srgbClr val="AE463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AE4630"/>
                </a:solidFill>
                <a:latin typeface="Calibri"/>
              </a:rPr>
              <a:t>в</a:t>
            </a:r>
            <a:r>
              <a:rPr sz="1200" b="0" i="0" dirty="0">
                <a:solidFill>
                  <a:srgbClr val="AE4630"/>
                </a:solidFill>
                <a:latin typeface="Calibri"/>
              </a:rPr>
              <a:t> 60% </a:t>
            </a:r>
            <a:r>
              <a:rPr sz="1200" b="0" i="0" dirty="0" err="1">
                <a:solidFill>
                  <a:srgbClr val="AE4630"/>
                </a:solidFill>
                <a:latin typeface="Calibri"/>
              </a:rPr>
              <a:t>случаев</a:t>
            </a:r>
            <a:r>
              <a:rPr sz="1200" b="0" i="0" dirty="0">
                <a:solidFill>
                  <a:srgbClr val="AE4630"/>
                </a:solidFill>
                <a:latin typeface="Calibri"/>
              </a:rPr>
              <a:t>, </a:t>
            </a:r>
            <a:r>
              <a:rPr sz="1200" b="0" i="0" dirty="0" err="1">
                <a:solidFill>
                  <a:srgbClr val="AE4630"/>
                </a:solidFill>
                <a:latin typeface="Calibri"/>
              </a:rPr>
              <a:t>курс</a:t>
            </a:r>
            <a:r>
              <a:rPr sz="1200" b="0" i="0" dirty="0">
                <a:solidFill>
                  <a:srgbClr val="AE463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AE4630"/>
                </a:solidFill>
                <a:latin typeface="Calibri"/>
              </a:rPr>
              <a:t>не</a:t>
            </a:r>
            <a:r>
              <a:rPr sz="1200" b="0" i="0" dirty="0">
                <a:solidFill>
                  <a:srgbClr val="AE463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AE4630"/>
                </a:solidFill>
                <a:latin typeface="Calibri"/>
              </a:rPr>
              <a:t>улучшается</a:t>
            </a:r>
            <a:endParaRPr sz="1200" b="0" i="0" dirty="0">
              <a:solidFill>
                <a:srgbClr val="AE4630"/>
              </a:solidFill>
              <a:latin typeface="Calibri"/>
            </a:endParaRPr>
          </a:p>
          <a:p>
            <a:pPr marL="256032" indent="-256032" algn="l">
              <a:spcAft>
                <a:spcPts val="2000"/>
              </a:spcAft>
              <a:buClr>
                <a:srgbClr val="26675F"/>
              </a:buClr>
              <a:buSzPct val="85000"/>
              <a:buFont typeface="Calibri"/>
              <a:buChar char="→"/>
            </a:pPr>
            <a:r>
              <a:rPr sz="1200" b="0" i="0" dirty="0" err="1">
                <a:solidFill>
                  <a:srgbClr val="26675F"/>
                </a:solidFill>
                <a:latin typeface="Calibri"/>
              </a:rPr>
              <a:t>Два</a:t>
            </a:r>
            <a:r>
              <a:rPr sz="1200" b="0" i="0" dirty="0">
                <a:solidFill>
                  <a:srgbClr val="26675F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6675F"/>
                </a:solidFill>
                <a:latin typeface="Calibri"/>
              </a:rPr>
              <a:t>дня</a:t>
            </a:r>
            <a:r>
              <a:rPr sz="1200" b="0" i="0" dirty="0">
                <a:solidFill>
                  <a:srgbClr val="26675F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6675F"/>
                </a:solidFill>
                <a:latin typeface="Calibri"/>
              </a:rPr>
              <a:t>подряд</a:t>
            </a:r>
            <a:r>
              <a:rPr sz="1200" b="0" i="0" dirty="0">
                <a:solidFill>
                  <a:srgbClr val="26675F"/>
                </a:solidFill>
                <a:latin typeface="Calibri"/>
              </a:rPr>
              <a:t> — </a:t>
            </a:r>
            <a:r>
              <a:rPr sz="1200" b="0" i="0" dirty="0" err="1">
                <a:solidFill>
                  <a:srgbClr val="26675F"/>
                </a:solidFill>
                <a:latin typeface="Calibri"/>
              </a:rPr>
              <a:t>признак</a:t>
            </a:r>
            <a:r>
              <a:rPr sz="1200" b="0" i="0" dirty="0">
                <a:solidFill>
                  <a:srgbClr val="26675F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6675F"/>
                </a:solidFill>
                <a:latin typeface="Calibri"/>
              </a:rPr>
              <a:t>продолжающегося</a:t>
            </a:r>
            <a:r>
              <a:rPr sz="1200" b="0" i="0" dirty="0">
                <a:solidFill>
                  <a:srgbClr val="26675F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6675F"/>
                </a:solidFill>
                <a:latin typeface="Calibri"/>
              </a:rPr>
              <a:t>движения</a:t>
            </a:r>
            <a:r>
              <a:rPr sz="1200" b="0" i="0" dirty="0">
                <a:solidFill>
                  <a:srgbClr val="26675F"/>
                </a:solidFill>
                <a:latin typeface="Calibri"/>
              </a:rPr>
              <a:t>, </a:t>
            </a:r>
            <a:r>
              <a:rPr sz="1200" b="0" i="0" dirty="0" err="1">
                <a:solidFill>
                  <a:srgbClr val="26675F"/>
                </a:solidFill>
                <a:latin typeface="Calibri"/>
              </a:rPr>
              <a:t>статистически</a:t>
            </a:r>
            <a:r>
              <a:rPr sz="1200" b="0" i="0" dirty="0">
                <a:solidFill>
                  <a:srgbClr val="26675F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6675F"/>
                </a:solidFill>
                <a:latin typeface="Calibri"/>
              </a:rPr>
              <a:t>значим</a:t>
            </a:r>
            <a:endParaRPr sz="1200" b="0" i="0" dirty="0">
              <a:solidFill>
                <a:srgbClr val="26675F"/>
              </a:solidFill>
              <a:latin typeface="Calibri"/>
            </a:endParaRPr>
          </a:p>
          <a:p>
            <a:pPr marL="0" indent="0" algn="l">
              <a:spcAft>
                <a:spcPts val="500"/>
              </a:spcAft>
              <a:buNone/>
            </a:pPr>
            <a:r>
              <a:rPr sz="1300" b="1" i="0" dirty="0" err="1">
                <a:solidFill>
                  <a:srgbClr val="12161A"/>
                </a:solidFill>
                <a:latin typeface="Calibri"/>
              </a:rPr>
              <a:t>Фильтр</a:t>
            </a:r>
            <a:r>
              <a:rPr sz="1300" b="1" i="0" dirty="0">
                <a:solidFill>
                  <a:srgbClr val="12161A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12161A"/>
                </a:solidFill>
                <a:latin typeface="Calibri"/>
              </a:rPr>
              <a:t>турбулентного</a:t>
            </a:r>
            <a:r>
              <a:rPr sz="1300" b="1" i="0" dirty="0">
                <a:solidFill>
                  <a:srgbClr val="12161A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12161A"/>
                </a:solidFill>
                <a:latin typeface="Calibri"/>
              </a:rPr>
              <a:t>рынка</a:t>
            </a:r>
            <a:endParaRPr sz="1300" b="1" i="0" dirty="0">
              <a:solidFill>
                <a:srgbClr val="12161A"/>
              </a:solidFill>
              <a:latin typeface="Calibri"/>
            </a:endParaRPr>
          </a:p>
          <a:p>
            <a:pPr marL="256032" indent="-256032" algn="l">
              <a:spcAft>
                <a:spcPts val="300"/>
              </a:spcAft>
              <a:buClr>
                <a:srgbClr val="6D747F"/>
              </a:buClr>
              <a:buSzPct val="85000"/>
              <a:buFont typeface="Calibri"/>
              <a:buChar char="→"/>
            </a:pPr>
            <a:r>
              <a:rPr sz="1200" b="0" i="0" dirty="0" err="1">
                <a:solidFill>
                  <a:srgbClr val="6D747F"/>
                </a:solidFill>
                <a:latin typeface="Calibri"/>
              </a:rPr>
              <a:t>Если</a:t>
            </a:r>
            <a:r>
              <a:rPr sz="1200" b="0" i="0" dirty="0">
                <a:solidFill>
                  <a:srgbClr val="6D747F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6D747F"/>
                </a:solidFill>
                <a:latin typeface="Calibri"/>
              </a:rPr>
              <a:t>рынок</a:t>
            </a:r>
            <a:r>
              <a:rPr sz="1200" b="0" i="0" dirty="0">
                <a:solidFill>
                  <a:srgbClr val="6D747F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6D747F"/>
                </a:solidFill>
                <a:latin typeface="Calibri"/>
              </a:rPr>
              <a:t>прыгает</a:t>
            </a:r>
            <a:r>
              <a:rPr sz="1200" b="0" i="0" dirty="0">
                <a:solidFill>
                  <a:srgbClr val="6D747F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6D747F"/>
                </a:solidFill>
                <a:latin typeface="Calibri"/>
              </a:rPr>
              <a:t>сильнее</a:t>
            </a:r>
            <a:r>
              <a:rPr sz="1200" b="0" i="0" dirty="0">
                <a:solidFill>
                  <a:srgbClr val="6D747F"/>
                </a:solidFill>
                <a:latin typeface="Calibri"/>
              </a:rPr>
              <a:t>, </a:t>
            </a:r>
            <a:r>
              <a:rPr sz="1200" b="0" i="0" dirty="0" err="1">
                <a:solidFill>
                  <a:srgbClr val="6D747F"/>
                </a:solidFill>
                <a:latin typeface="Calibri"/>
              </a:rPr>
              <a:t>чем</a:t>
            </a:r>
            <a:r>
              <a:rPr sz="1200" b="0" i="0" dirty="0">
                <a:solidFill>
                  <a:srgbClr val="6D747F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6D747F"/>
                </a:solidFill>
                <a:latin typeface="Calibri"/>
              </a:rPr>
              <a:t>в</a:t>
            </a:r>
            <a:r>
              <a:rPr sz="1200" b="0" i="0" dirty="0">
                <a:solidFill>
                  <a:srgbClr val="6D747F"/>
                </a:solidFill>
                <a:latin typeface="Calibri"/>
              </a:rPr>
              <a:t> 85% </a:t>
            </a:r>
            <a:r>
              <a:rPr sz="1200" b="0" i="0" dirty="0" err="1">
                <a:solidFill>
                  <a:srgbClr val="6D747F"/>
                </a:solidFill>
                <a:latin typeface="Calibri"/>
              </a:rPr>
              <a:t>периодов</a:t>
            </a:r>
            <a:r>
              <a:rPr sz="1200" b="0" i="0" dirty="0">
                <a:solidFill>
                  <a:srgbClr val="6D747F"/>
                </a:solidFill>
                <a:latin typeface="Calibri"/>
              </a:rPr>
              <a:t> — </a:t>
            </a:r>
            <a:r>
              <a:rPr sz="1200" b="0" i="0" dirty="0" err="1">
                <a:solidFill>
                  <a:srgbClr val="6D747F"/>
                </a:solidFill>
                <a:latin typeface="Calibri"/>
              </a:rPr>
              <a:t>сигнал</a:t>
            </a:r>
            <a:r>
              <a:rPr sz="1200" b="0" i="0" dirty="0">
                <a:solidFill>
                  <a:srgbClr val="6D747F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6D747F"/>
                </a:solidFill>
                <a:latin typeface="Calibri"/>
              </a:rPr>
              <a:t>не</a:t>
            </a:r>
            <a:r>
              <a:rPr sz="1200" b="0" i="0" dirty="0">
                <a:solidFill>
                  <a:srgbClr val="6D747F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6D747F"/>
                </a:solidFill>
                <a:latin typeface="Calibri"/>
              </a:rPr>
              <a:t>отправляем</a:t>
            </a:r>
            <a:endParaRPr sz="1200" b="0" i="0" dirty="0">
              <a:solidFill>
                <a:srgbClr val="6D747F"/>
              </a:solidFill>
              <a:latin typeface="Calibri"/>
            </a:endParaRPr>
          </a:p>
          <a:p>
            <a:pPr marL="256032" indent="-256032" algn="l">
              <a:spcAft>
                <a:spcPts val="1200"/>
              </a:spcAft>
              <a:buClr>
                <a:srgbClr val="A6ACB3"/>
              </a:buClr>
              <a:buSzPct val="85000"/>
              <a:buFont typeface="Calibri"/>
              <a:buChar char="→"/>
            </a:pPr>
            <a:r>
              <a:rPr sz="1200" b="0" i="1" dirty="0" err="1">
                <a:solidFill>
                  <a:srgbClr val="A6ACB3"/>
                </a:solidFill>
                <a:latin typeface="Calibri"/>
              </a:rPr>
              <a:t>В</a:t>
            </a:r>
            <a:r>
              <a:rPr sz="1200" b="0" i="1" dirty="0">
                <a:solidFill>
                  <a:srgbClr val="A6ACB3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rgbClr val="A6ACB3"/>
                </a:solidFill>
                <a:latin typeface="Calibri"/>
              </a:rPr>
              <a:t>кризис</a:t>
            </a:r>
            <a:r>
              <a:rPr sz="1200" b="0" i="1" dirty="0">
                <a:solidFill>
                  <a:srgbClr val="A6ACB3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rgbClr val="A6ACB3"/>
                </a:solidFill>
                <a:latin typeface="Calibri"/>
              </a:rPr>
              <a:t>паттерны</a:t>
            </a:r>
            <a:r>
              <a:rPr sz="1200" b="0" i="1" dirty="0">
                <a:solidFill>
                  <a:srgbClr val="A6ACB3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rgbClr val="A6ACB3"/>
                </a:solidFill>
                <a:latin typeface="Calibri"/>
              </a:rPr>
              <a:t>разворота</a:t>
            </a:r>
            <a:r>
              <a:rPr sz="1200" b="0" i="1" dirty="0">
                <a:solidFill>
                  <a:srgbClr val="A6ACB3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rgbClr val="A6ACB3"/>
                </a:solidFill>
                <a:latin typeface="Calibri"/>
              </a:rPr>
              <a:t>не</a:t>
            </a:r>
            <a:r>
              <a:rPr sz="1200" b="0" i="1" dirty="0">
                <a:solidFill>
                  <a:srgbClr val="A6ACB3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rgbClr val="A6ACB3"/>
                </a:solidFill>
                <a:latin typeface="Calibri"/>
              </a:rPr>
              <a:t>работают</a:t>
            </a:r>
            <a:r>
              <a:rPr sz="1200" b="0" i="1" dirty="0">
                <a:solidFill>
                  <a:srgbClr val="A6ACB3"/>
                </a:solidFill>
                <a:latin typeface="Calibri"/>
              </a:rPr>
              <a:t> — </a:t>
            </a:r>
            <a:r>
              <a:rPr sz="1200" b="0" i="1" dirty="0" err="1">
                <a:solidFill>
                  <a:srgbClr val="A6ACB3"/>
                </a:solidFill>
                <a:latin typeface="Calibri"/>
              </a:rPr>
              <a:t>лучше</a:t>
            </a:r>
            <a:r>
              <a:rPr sz="1200" b="0" i="1" dirty="0">
                <a:solidFill>
                  <a:srgbClr val="A6ACB3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rgbClr val="A6ACB3"/>
                </a:solidFill>
                <a:latin typeface="Calibri"/>
              </a:rPr>
              <a:t>промолчать</a:t>
            </a:r>
            <a:endParaRPr sz="1200" b="0" i="1" dirty="0">
              <a:solidFill>
                <a:srgbClr val="A6ACB3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60720" y="1481328"/>
            <a:ext cx="60807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6D747F"/>
                </a:solidFill>
                <a:latin typeface="Calibri"/>
              </a:rPr>
              <a:t>РЕЗУЛЬТАТЫ ПРОВЕРКИ НА БУДУЩИХ ДАННЫХ (доверительный интервал 90%)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837998"/>
              </p:ext>
            </p:extLst>
          </p:nvPr>
        </p:nvGraphicFramePr>
        <p:xfrm>
          <a:off x="5760720" y="1847088"/>
          <a:ext cx="6080760" cy="32918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6D747F"/>
                          </a:solidFill>
                          <a:latin typeface="Calibri"/>
                        </a:rPr>
                        <a:t>КОРИДОР</a:t>
                      </a:r>
                    </a:p>
                  </a:txBody>
                  <a:tcPr marL="118872" marR="11887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1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D747F"/>
                          </a:solidFill>
                          <a:latin typeface="Calibri"/>
                        </a:rPr>
                        <a:t>НА ИСТОРИИ</a:t>
                      </a:r>
                    </a:p>
                  </a:txBody>
                  <a:tcPr marL="118872" marR="11887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1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D747F"/>
                          </a:solidFill>
                          <a:latin typeface="Calibri"/>
                        </a:rPr>
                        <a:t>НА НОВЫХ ДАННЫХ</a:t>
                      </a:r>
                    </a:p>
                  </a:txBody>
                  <a:tcPr marL="118872" marR="11887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1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D747F"/>
                          </a:solidFill>
                          <a:latin typeface="Calibri"/>
                        </a:rPr>
                        <a:t>НИЖНЯЯ ГРАНИЦА CI</a:t>
                      </a:r>
                    </a:p>
                  </a:txBody>
                  <a:tcPr marL="118872" marR="11887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1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D747F"/>
                          </a:solidFill>
                          <a:latin typeface="Calibri"/>
                        </a:rPr>
                        <a:t>ВЫГОДА (10 ДНЕЙ)</a:t>
                      </a:r>
                    </a:p>
                  </a:txBody>
                  <a:tcPr marL="118872" marR="11887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1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2161A"/>
                          </a:solidFill>
                          <a:latin typeface="Calibri"/>
                        </a:rPr>
                        <a:t>RUB/KGS</a:t>
                      </a:r>
                    </a:p>
                  </a:txBody>
                  <a:tcPr marL="118872" marR="11887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61A"/>
                          </a:solidFill>
                          <a:latin typeface="Calibri"/>
                        </a:rPr>
                        <a:t>2.10</a:t>
                      </a:r>
                    </a:p>
                  </a:txBody>
                  <a:tcPr marL="118872" marR="11887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675F"/>
                          </a:solidFill>
                          <a:latin typeface="Calibri"/>
                        </a:rPr>
                        <a:t>1.84</a:t>
                      </a:r>
                    </a:p>
                  </a:txBody>
                  <a:tcPr marL="118872" marR="11887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675F"/>
                          </a:solidFill>
                          <a:latin typeface="Calibri"/>
                        </a:rPr>
                        <a:t>1.36 ✓</a:t>
                      </a:r>
                    </a:p>
                  </a:txBody>
                  <a:tcPr marL="118872" marR="11887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675F"/>
                          </a:solidFill>
                          <a:latin typeface="Calibri"/>
                        </a:rPr>
                        <a:t>+64 бп</a:t>
                      </a:r>
                    </a:p>
                  </a:txBody>
                  <a:tcPr marL="118872" marR="11887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2161A"/>
                          </a:solidFill>
                          <a:latin typeface="Calibri"/>
                        </a:rPr>
                        <a:t>RUB/TJS</a:t>
                      </a:r>
                    </a:p>
                  </a:txBody>
                  <a:tcPr marL="118872" marR="11887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9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61A"/>
                          </a:solidFill>
                          <a:latin typeface="Calibri"/>
                        </a:rPr>
                        <a:t>2.35</a:t>
                      </a:r>
                    </a:p>
                  </a:txBody>
                  <a:tcPr marL="118872" marR="11887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9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675F"/>
                          </a:solidFill>
                          <a:latin typeface="Calibri"/>
                        </a:rPr>
                        <a:t>1.76</a:t>
                      </a:r>
                    </a:p>
                  </a:txBody>
                  <a:tcPr marL="118872" marR="11887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9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675F"/>
                          </a:solidFill>
                          <a:latin typeface="Calibri"/>
                        </a:rPr>
                        <a:t>1.76 ✓</a:t>
                      </a:r>
                    </a:p>
                  </a:txBody>
                  <a:tcPr marL="118872" marR="11887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9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675F"/>
                          </a:solidFill>
                          <a:latin typeface="Calibri"/>
                        </a:rPr>
                        <a:t>+96 бп</a:t>
                      </a:r>
                    </a:p>
                  </a:txBody>
                  <a:tcPr marL="118872" marR="11887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9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2161A"/>
                          </a:solidFill>
                          <a:latin typeface="Calibri"/>
                        </a:rPr>
                        <a:t>RUB/AMD</a:t>
                      </a:r>
                    </a:p>
                  </a:txBody>
                  <a:tcPr marL="118872" marR="11887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61A"/>
                          </a:solidFill>
                          <a:latin typeface="Calibri"/>
                        </a:rPr>
                        <a:t>2.81</a:t>
                      </a:r>
                    </a:p>
                  </a:txBody>
                  <a:tcPr marL="118872" marR="11887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A6ACB3"/>
                          </a:solidFill>
                          <a:latin typeface="Calibri"/>
                        </a:rPr>
                        <a:t>2.16</a:t>
                      </a:r>
                    </a:p>
                  </a:txBody>
                  <a:tcPr marL="118872" marR="11887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AD692E"/>
                          </a:solidFill>
                          <a:latin typeface="Calibri"/>
                        </a:rPr>
                        <a:t>1.30 </a:t>
                      </a:r>
                      <a:r>
                        <a:rPr lang="ru-RU" sz="1300" b="0" dirty="0">
                          <a:solidFill>
                            <a:srgbClr val="AD692E"/>
                          </a:solidFill>
                          <a:latin typeface="Calibri"/>
                        </a:rPr>
                        <a:t>!</a:t>
                      </a:r>
                      <a:endParaRPr sz="1300" b="0" dirty="0">
                        <a:solidFill>
                          <a:srgbClr val="AD692E"/>
                        </a:solidFill>
                        <a:latin typeface="Calibri"/>
                      </a:endParaRPr>
                    </a:p>
                  </a:txBody>
                  <a:tcPr marL="118872" marR="11887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675F"/>
                          </a:solidFill>
                          <a:latin typeface="Calibri"/>
                        </a:rPr>
                        <a:t>+52 бп</a:t>
                      </a:r>
                    </a:p>
                  </a:txBody>
                  <a:tcPr marL="118872" marR="11887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2161A"/>
                          </a:solidFill>
                          <a:latin typeface="Calibri"/>
                        </a:rPr>
                        <a:t>RUB/UZS</a:t>
                      </a:r>
                    </a:p>
                  </a:txBody>
                  <a:tcPr marL="118872" marR="11887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9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6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18872" marR="11887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9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A6ACB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18872" marR="11887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9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AE4630"/>
                          </a:solidFill>
                          <a:latin typeface="Calibri"/>
                        </a:rPr>
                        <a:t>&lt; 1.0 ✗</a:t>
                      </a:r>
                    </a:p>
                  </a:txBody>
                  <a:tcPr marL="118872" marR="11887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9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A6ACB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18872" marR="11887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9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2161A"/>
                          </a:solidFill>
                          <a:latin typeface="Calibri"/>
                        </a:rPr>
                        <a:t>RUB/KZT</a:t>
                      </a:r>
                    </a:p>
                  </a:txBody>
                  <a:tcPr marL="118872" marR="11887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6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18872" marR="11887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A6ACB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18872" marR="11887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AE4630"/>
                          </a:solidFill>
                          <a:latin typeface="Calibri"/>
                        </a:rPr>
                        <a:t>&lt; 1.0 ✗</a:t>
                      </a:r>
                    </a:p>
                  </a:txBody>
                  <a:tcPr marL="118872" marR="11887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A6ACB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18872" marR="11887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760720" y="5330952"/>
            <a:ext cx="6080760" cy="804672"/>
          </a:xfrm>
          <a:prstGeom prst="roundRect">
            <a:avLst>
              <a:gd name="adj" fmla="val 6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0" y="5577840"/>
            <a:ext cx="57150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6D747F"/>
                </a:solidFill>
                <a:latin typeface="Calibri"/>
              </a:rPr>
              <a:t>Простой базовый сигнал (по абсолютному уровню курса): результат 0.86–0.97 — хуже случайного выбора дня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92240"/>
            <a:ext cx="594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A6ACB3"/>
                </a:solidFill>
                <a:latin typeface="Calibri"/>
              </a:rPr>
              <a:t>2/4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56616"/>
            <a:ext cx="201168" cy="16459"/>
          </a:xfrm>
          <a:prstGeom prst="rect">
            <a:avLst/>
          </a:prstGeom>
          <a:solidFill>
            <a:srgbClr val="266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274320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26675F"/>
                </a:solidFill>
                <a:latin typeface="Calibri"/>
              </a:rPr>
              <a:t>  PUSH-ТЕКСТЫ И ПРОИЗВОДСТВЕННЫЕ РЕШЕНИЯ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12161A"/>
                </a:solidFill>
                <a:latin typeface="Calibri"/>
              </a:rPr>
              <a:t>Только факты. Правильное время. Без дублей.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81328"/>
            <a:ext cx="5532120" cy="4800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709928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6D747F"/>
                </a:solidFill>
                <a:latin typeface="Calibri"/>
              </a:rPr>
              <a:t>PUSH-ТЕКСТЫ (ПРОВЕРЕНО НА СООТВЕТСТВИЕ)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075688"/>
            <a:ext cx="5074920" cy="932688"/>
          </a:xfrm>
          <a:prstGeom prst="roundRect">
            <a:avLst>
              <a:gd name="adj" fmla="val 6000"/>
            </a:avLst>
          </a:prstGeom>
          <a:solidFill>
            <a:srgbClr val="EB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03704"/>
            <a:ext cx="43891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6675F"/>
                </a:solidFill>
                <a:latin typeface="Calibri"/>
              </a:rPr>
              <a:t>Альфа-Банк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4709160" cy="5212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12161A"/>
                </a:solidFill>
                <a:latin typeface="Calibri"/>
              </a:rPr>
              <a:t>Рубль укрепился к сомони за последние 5 дней
сильнее, чем в 85% случаев за 3 месяца.
Текущий курс: 6.3850 руб.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090672"/>
            <a:ext cx="5074920" cy="896112"/>
          </a:xfrm>
          <a:prstGeom prst="roundRect">
            <a:avLst>
              <a:gd name="adj" fmla="val 6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43891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6675F"/>
                </a:solidFill>
                <a:latin typeface="Calibri"/>
              </a:rPr>
              <a:t>Альфа-Банк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438144"/>
            <a:ext cx="47091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12161A"/>
                </a:solidFill>
                <a:latin typeface="Calibri"/>
              </a:rPr>
              <a:t>Рубль укреплялся к сому несколько дней подряд —
курс выгоднее, чем в 91% случаев за 3 месяца.
Текущий курс: 1.4320 руб.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4096512"/>
            <a:ext cx="5074920" cy="10972"/>
          </a:xfrm>
          <a:prstGeom prst="rect">
            <a:avLst/>
          </a:prstGeom>
          <a:solidFill>
            <a:srgbClr val="E7E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4206240"/>
            <a:ext cx="5029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6D747F"/>
                </a:solidFill>
                <a:latin typeface="Calibri"/>
              </a:rPr>
              <a:t>ПРАВИЛО COMPLIANCE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480560"/>
            <a:ext cx="50749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01168" indent="-201168" algn="l">
              <a:spcAft>
                <a:spcPts val="1000"/>
              </a:spcAft>
              <a:buClr>
                <a:srgbClr val="26675F"/>
              </a:buClr>
              <a:buSzPct val="85000"/>
              <a:buFont typeface="Calibri"/>
              <a:buChar char="•"/>
            </a:pPr>
            <a:r>
              <a:rPr sz="1200" b="0" i="0">
                <a:solidFill>
                  <a:srgbClr val="12161A"/>
                </a:solidFill>
                <a:latin typeface="Calibri"/>
              </a:rPr>
              <a:t>Только факты прошлого/настоящего</a:t>
            </a:r>
          </a:p>
          <a:p>
            <a:pPr marL="201168" indent="-201168" algn="l">
              <a:spcAft>
                <a:spcPts val="1000"/>
              </a:spcAft>
              <a:buClr>
                <a:srgbClr val="AE4630"/>
              </a:buClr>
              <a:buSzPct val="85000"/>
              <a:buFont typeface="Calibri"/>
              <a:buChar char="•"/>
            </a:pPr>
            <a:r>
              <a:rPr sz="1200" b="0" i="0">
                <a:solidFill>
                  <a:srgbClr val="AE4630"/>
                </a:solidFill>
                <a:latin typeface="Calibri"/>
              </a:rPr>
              <a:t>Запрещено: «вырастет» / «успейте» / «гарантируем» / «заработайте»</a:t>
            </a:r>
          </a:p>
          <a:p>
            <a:pPr marL="201168" indent="-201168" algn="l">
              <a:spcAft>
                <a:spcPts val="1000"/>
              </a:spcAft>
              <a:buClr>
                <a:srgbClr val="6D747F"/>
              </a:buClr>
              <a:buSzPct val="85000"/>
              <a:buFont typeface="Calibri"/>
              <a:buChar char="•"/>
            </a:pPr>
            <a:r>
              <a:rPr sz="1100" b="0" i="0">
                <a:solidFill>
                  <a:srgbClr val="6D747F"/>
                </a:solidFill>
                <a:latin typeface="Calibri"/>
              </a:rPr>
              <a:t>Автоматическая проверка каждого шаблона перед отправкой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481328"/>
            <a:ext cx="5669280" cy="22128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2512" y="1709928"/>
            <a:ext cx="52120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6D747F"/>
                </a:solidFill>
                <a:latin typeface="Calibri"/>
              </a:rPr>
              <a:t>ЧАСОВЫЕ ПОЯСА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066543"/>
            <a:ext cx="5212080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01168" indent="-201168" algn="l">
              <a:spcAft>
                <a:spcPts val="1000"/>
              </a:spcAft>
              <a:buClr>
                <a:srgbClr val="6D747F"/>
              </a:buClr>
              <a:buSzPct val="85000"/>
              <a:buFont typeface="Calibri"/>
              <a:buChar char="•"/>
            </a:pPr>
            <a:r>
              <a:rPr sz="1200" b="0" i="0">
                <a:solidFill>
                  <a:srgbClr val="12161A"/>
                </a:solidFill>
                <a:latin typeface="Calibri"/>
              </a:rPr>
              <a:t>Получатель UTC+5 (UZS, KGS) — разница 2 ч от МСК</a:t>
            </a:r>
          </a:p>
          <a:p>
            <a:pPr marL="201168" indent="-201168" algn="l">
              <a:spcAft>
                <a:spcPts val="1000"/>
              </a:spcAft>
              <a:buClr>
                <a:srgbClr val="26675F"/>
              </a:buClr>
              <a:buSzPct val="85000"/>
              <a:buFont typeface="Calibri"/>
              <a:buChar char="•"/>
            </a:pPr>
            <a:r>
              <a:rPr sz="1200" b="1" i="0">
                <a:solidFill>
                  <a:srgbClr val="26675F"/>
                </a:solidFill>
                <a:latin typeface="Calibri"/>
              </a:rPr>
              <a:t>Тихое окно: 22:00–08:00 по времени получателя</a:t>
            </a:r>
          </a:p>
          <a:p>
            <a:pPr marL="201168" indent="-201168" algn="l">
              <a:spcAft>
                <a:spcPts val="1000"/>
              </a:spcAft>
              <a:buClr>
                <a:srgbClr val="6D747F"/>
              </a:buClr>
              <a:buSzPct val="85000"/>
              <a:buFont typeface="Calibri"/>
              <a:buChar char="•"/>
            </a:pPr>
            <a:r>
              <a:rPr sz="1200" b="0" i="0">
                <a:solidFill>
                  <a:srgbClr val="6D747F"/>
                </a:solidFill>
                <a:latin typeface="Calibri"/>
              </a:rPr>
              <a:t>Сигнал не сгорает — ставится в очередь до открытия окна</a:t>
            </a:r>
          </a:p>
          <a:p>
            <a:pPr marL="201168" indent="-201168" algn="l">
              <a:spcAft>
                <a:spcPts val="1000"/>
              </a:spcAft>
              <a:buClr>
                <a:srgbClr val="A6ACB3"/>
              </a:buClr>
              <a:buSzPct val="85000"/>
              <a:buFont typeface="Calibri"/>
              <a:buChar char="•"/>
            </a:pPr>
            <a:r>
              <a:rPr sz="1100" b="0" i="1">
                <a:solidFill>
                  <a:srgbClr val="A6ACB3"/>
                </a:solidFill>
                <a:latin typeface="Calibri"/>
              </a:rPr>
              <a:t>Математически верный сигнал в 01:00 — для продукта мусор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840480"/>
            <a:ext cx="5669280" cy="22128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82512" y="4069080"/>
            <a:ext cx="52120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6D747F"/>
                </a:solidFill>
                <a:latin typeface="Calibri"/>
              </a:rPr>
              <a:t>УСТАРЕВАНИЕ И ДУБЛИ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4425696"/>
            <a:ext cx="5212080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01168" indent="-201168" algn="l">
              <a:spcAft>
                <a:spcPts val="1000"/>
              </a:spcAft>
              <a:buClr>
                <a:srgbClr val="6D747F"/>
              </a:buClr>
              <a:buSzPct val="85000"/>
              <a:buFont typeface="Calibri"/>
              <a:buChar char="•"/>
            </a:pPr>
            <a:r>
              <a:rPr sz="1200" b="0" i="0">
                <a:solidFill>
                  <a:srgbClr val="12161A"/>
                </a:solidFill>
                <a:latin typeface="Calibri"/>
              </a:rPr>
              <a:t>Пауза 3 дня между сигналами одного коридора — нет повторов</a:t>
            </a:r>
          </a:p>
          <a:p>
            <a:pPr marL="201168" indent="-201168" algn="l">
              <a:spcAft>
                <a:spcPts val="1000"/>
              </a:spcAft>
              <a:buClr>
                <a:srgbClr val="6D747F"/>
              </a:buClr>
              <a:buSzPct val="85000"/>
              <a:buFont typeface="Calibri"/>
              <a:buChar char="•"/>
            </a:pPr>
            <a:r>
              <a:rPr sz="1200" b="0" i="0">
                <a:solidFill>
                  <a:srgbClr val="6D747F"/>
                </a:solidFill>
                <a:latin typeface="Calibri"/>
              </a:rPr>
              <a:t>История сигналов хранится 30 дней — дубли исключены</a:t>
            </a:r>
          </a:p>
          <a:p>
            <a:pPr marL="201168" indent="-201168" algn="l">
              <a:spcAft>
                <a:spcPts val="1000"/>
              </a:spcAft>
              <a:buClr>
                <a:srgbClr val="6D747F"/>
              </a:buClr>
              <a:buSzPct val="85000"/>
              <a:buFont typeface="Calibri"/>
              <a:buChar char="•"/>
            </a:pPr>
            <a:r>
              <a:rPr sz="1200" b="0" i="0">
                <a:solidFill>
                  <a:srgbClr val="6D747F"/>
                </a:solidFill>
                <a:latin typeface="Calibri"/>
              </a:rPr>
              <a:t>Сигнал на выходной → следующий торговый день</a:t>
            </a:r>
          </a:p>
          <a:p>
            <a:pPr marL="201168" indent="-201168" algn="l">
              <a:spcAft>
                <a:spcPts val="1000"/>
              </a:spcAft>
              <a:buClr>
                <a:srgbClr val="26675F"/>
              </a:buClr>
              <a:buSzPct val="85000"/>
              <a:buFont typeface="Calibri"/>
              <a:buChar char="•"/>
            </a:pPr>
            <a:r>
              <a:rPr sz="1200" b="1" i="0">
                <a:solidFill>
                  <a:srgbClr val="26675F"/>
                </a:solidFill>
                <a:latin typeface="Calibri"/>
              </a:rPr>
              <a:t>TJS не блокирует KGS — cooldown независим по коридорам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92240"/>
            <a:ext cx="594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A6ACB3"/>
                </a:solidFill>
                <a:latin typeface="Calibri"/>
              </a:rPr>
              <a:t>3/4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56616"/>
            <a:ext cx="201168" cy="16459"/>
          </a:xfrm>
          <a:prstGeom prst="rect">
            <a:avLst/>
          </a:prstGeom>
          <a:solidFill>
            <a:srgbClr val="266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274320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26675F"/>
                </a:solidFill>
                <a:latin typeface="Calibri"/>
              </a:rPr>
              <a:t>  КАСТОМНЫЕ ДОРАБОТКИ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12161A"/>
                </a:solidFill>
                <a:latin typeface="Calibri"/>
              </a:rPr>
              <a:t>Двухуровневая система сигналов и проверка на будущих данных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81328"/>
            <a:ext cx="5394960" cy="4800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709928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6D747F"/>
                </a:solidFill>
                <a:latin typeface="Calibri"/>
              </a:rPr>
              <a:t>ДВУХУРОВНЕВАЯ СИСТЕМА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084831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266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2084831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СИЛЬНЫЙ СИГНАЛ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523744"/>
            <a:ext cx="493776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01168" indent="-201168" algn="l">
              <a:spcAft>
                <a:spcPts val="1200"/>
              </a:spcAft>
              <a:buClr>
                <a:srgbClr val="26675F"/>
              </a:buClr>
              <a:buSzPct val="85000"/>
              <a:buFont typeface="Calibri"/>
              <a:buChar char="•"/>
            </a:pPr>
            <a:r>
              <a:rPr sz="1200" b="0" i="0">
                <a:solidFill>
                  <a:srgbClr val="12161A"/>
                </a:solidFill>
                <a:latin typeface="Calibri"/>
              </a:rPr>
              <a:t>Статистически подтверждён (CI &gt; 1.0 на KGS/TJS)</a:t>
            </a:r>
          </a:p>
          <a:p>
            <a:pPr marL="201168" indent="-201168" algn="l">
              <a:spcAft>
                <a:spcPts val="1200"/>
              </a:spcAft>
              <a:buClr>
                <a:srgbClr val="6D747F"/>
              </a:buClr>
              <a:buSzPct val="85000"/>
              <a:buFont typeface="Calibri"/>
              <a:buChar char="•"/>
            </a:pPr>
            <a:r>
              <a:rPr sz="1200" b="0" i="0">
                <a:solidFill>
                  <a:srgbClr val="6D747F"/>
                </a:solidFill>
                <a:latin typeface="Calibri"/>
              </a:rPr>
              <a:t>Редкий: ~0.057/нед — раз в 2–3 недели на коридор</a:t>
            </a:r>
          </a:p>
          <a:p>
            <a:pPr marL="201168" indent="-201168" algn="l">
              <a:spcAft>
                <a:spcPts val="1200"/>
              </a:spcAft>
              <a:buClr>
                <a:srgbClr val="12161A"/>
              </a:buClr>
              <a:buSzPct val="85000"/>
              <a:buFont typeface="Calibri"/>
              <a:buChar char="•"/>
            </a:pPr>
            <a:r>
              <a:rPr sz="1200" b="1" i="0">
                <a:solidFill>
                  <a:srgbClr val="12161A"/>
                </a:solidFill>
                <a:latin typeface="Calibri"/>
              </a:rPr>
              <a:t>Точность &gt; частота: поток не разбавляем ради покрытия цели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4069080"/>
            <a:ext cx="4937760" cy="10972"/>
          </a:xfrm>
          <a:prstGeom prst="rect">
            <a:avLst/>
          </a:prstGeom>
          <a:solidFill>
            <a:srgbClr val="E7E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1792" y="420624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" y="4206240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6D747F"/>
                </a:solidFill>
                <a:latin typeface="Calibri"/>
              </a:rPr>
              <a:t>«НАБЛЮДЕНИЕ» НА ГЛАВНОМ ЭКРАНЕ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645152"/>
            <a:ext cx="4937760" cy="1426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01168" indent="-201168" algn="l">
              <a:spcAft>
                <a:spcPts val="1200"/>
              </a:spcAft>
              <a:buClr>
                <a:srgbClr val="6D747F"/>
              </a:buClr>
              <a:buSzPct val="85000"/>
              <a:buFont typeface="Calibri"/>
              <a:buChar char="•"/>
            </a:pPr>
            <a:r>
              <a:rPr sz="1200" b="0" i="0">
                <a:solidFill>
                  <a:srgbClr val="12161A"/>
                </a:solidFill>
                <a:latin typeface="Calibri"/>
              </a:rPr>
              <a:t>Мягкий сигнал в тихие недели — не push, не прерывает</a:t>
            </a:r>
          </a:p>
          <a:p>
            <a:pPr marL="201168" indent="-201168" algn="l">
              <a:spcAft>
                <a:spcPts val="1200"/>
              </a:spcAft>
              <a:buClr>
                <a:srgbClr val="6D747F"/>
              </a:buClr>
              <a:buSzPct val="85000"/>
              <a:buFont typeface="Calibri"/>
              <a:buChar char="•"/>
            </a:pPr>
            <a:r>
              <a:rPr sz="1200" b="0" i="0">
                <a:solidFill>
                  <a:srgbClr val="6D747F"/>
                </a:solidFill>
                <a:latin typeface="Calibri"/>
              </a:rPr>
              <a:t>Честно помечена как «наблюдение», не к действию</a:t>
            </a:r>
          </a:p>
          <a:p>
            <a:pPr marL="201168" indent="-201168" algn="l">
              <a:spcAft>
                <a:spcPts val="1200"/>
              </a:spcAft>
              <a:buClr>
                <a:srgbClr val="26675F"/>
              </a:buClr>
              <a:buSzPct val="85000"/>
              <a:buFont typeface="Calibri"/>
              <a:buChar char="•"/>
            </a:pPr>
            <a:r>
              <a:rPr sz="1200" b="1" i="0">
                <a:solidFill>
                  <a:srgbClr val="26675F"/>
                </a:solidFill>
                <a:latin typeface="Calibri"/>
              </a:rPr>
              <a:t>Цель 1–2 контакта/нед — без разбавления статистического edge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481328"/>
            <a:ext cx="5833872" cy="4800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45352" y="1709928"/>
            <a:ext cx="5394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6D747F"/>
                </a:solidFill>
                <a:latin typeface="Calibri"/>
              </a:rPr>
              <a:t>ПРОВЕРКА НА БУДУЩИХ ДАННЫХ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2148840"/>
            <a:ext cx="5349240" cy="621792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28232" y="221284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12161A"/>
                </a:solidFill>
                <a:latin typeface="Calibri"/>
              </a:rPr>
              <a:t>Тест на будущих данных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2212848"/>
            <a:ext cx="29260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6D747F"/>
                </a:solidFill>
                <a:latin typeface="Calibri"/>
              </a:rPr>
              <a:t>обучение 2 года → тест 3 месяца → пауза 5 дней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2843784"/>
            <a:ext cx="5349240" cy="621792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28232" y="290779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12161A"/>
                </a:solidFill>
                <a:latin typeface="Calibri"/>
              </a:rPr>
              <a:t>Отложенный тест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2907792"/>
            <a:ext cx="29260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6D747F"/>
                </a:solidFill>
                <a:latin typeface="Calibri"/>
              </a:rPr>
              <a:t>с 2025-07-01 — нетронутые данные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5352" y="3538728"/>
            <a:ext cx="5349240" cy="621792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2" y="3602736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12161A"/>
                </a:solidFill>
                <a:latin typeface="Calibri"/>
              </a:rPr>
              <a:t>Без заглядывания в будущее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5632" y="3602736"/>
            <a:ext cx="29260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6D747F"/>
                </a:solidFill>
                <a:latin typeface="Calibri"/>
              </a:rPr>
              <a:t>сигнал видит только данные ≤ сегодня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45352" y="4233672"/>
            <a:ext cx="5349240" cy="621792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28232" y="429768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12161A"/>
                </a:solidFill>
                <a:latin typeface="Calibri"/>
              </a:rPr>
              <a:t>30 unit-тестов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5632" y="4297680"/>
            <a:ext cx="29260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6D747F"/>
                </a:solidFill>
                <a:latin typeface="Calibri"/>
              </a:rPr>
              <a:t>включая проверку отсутствия lookahead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45352" y="4928616"/>
            <a:ext cx="5349240" cy="621792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28232" y="4992624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12161A"/>
                </a:solidFill>
                <a:latin typeface="Calibri"/>
              </a:rPr>
              <a:t>Доверительный интервал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85632" y="4992624"/>
            <a:ext cx="29260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6D747F"/>
                </a:solidFill>
                <a:latin typeface="Calibri"/>
              </a:rPr>
              <a:t>OOT мало → bootstrap на полной выборке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5352" y="5623559"/>
            <a:ext cx="5349240" cy="621792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28232" y="568756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12161A"/>
                </a:solidFill>
                <a:latin typeface="Calibri"/>
              </a:rPr>
              <a:t>Выгода в базисных пунктах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85632" y="5687568"/>
            <a:ext cx="29260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6D747F"/>
                </a:solidFill>
                <a:latin typeface="Calibri"/>
              </a:rPr>
              <a:t>KGS +40–64 бп, TJS +69–96 бп на горизонте 5/10 дней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492240"/>
            <a:ext cx="594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A6ACB3"/>
                </a:solidFill>
                <a:latin typeface="Calibri"/>
              </a:rPr>
              <a:t>4/4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629</Words>
  <Application>Microsoft Macintosh PowerPoint</Application>
  <PresentationFormat>Произвольный</PresentationFormat>
  <Paragraphs>120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k34814</cp:lastModifiedBy>
  <cp:revision>2</cp:revision>
  <dcterms:created xsi:type="dcterms:W3CDTF">2013-01-27T09:14:16Z</dcterms:created>
  <dcterms:modified xsi:type="dcterms:W3CDTF">2026-09-06T19:31:09Z</dcterms:modified>
  <cp:category/>
</cp:coreProperties>
</file>